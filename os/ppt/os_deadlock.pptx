
<file path=[Content_Types].xml><?xml version="1.0" encoding="utf-8"?>
<Types xmlns="http://schemas.openxmlformats.org/package/2006/content-types">
  <Default Extension="xml" ContentType="application/xml"/>
  <Default Extension="webm" ContentType="video/webm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slides/slide6.xml" ContentType="application/vnd.openxmlformats-officedocument.presentationml.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3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128759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9889254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32906525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1429443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74439862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60386739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7998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17556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71821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614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9671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715917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7823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22520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63026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9960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12587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48415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311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33923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2938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30220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01399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548240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4865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25977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283895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91021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54496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031808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20631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427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41885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16108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7231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7247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C2467B-054E-C13F-3087-9B00E49AF36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microsoft.com/office/2007/relationships/media" Target="../media/media1.webm"/><Relationship Id="rId5" Type="http://schemas.openxmlformats.org/officeDocument/2006/relationships/video" Target="../media/media1.webm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259061" name="Shape 0"/>
          <p:cNvSpPr/>
          <p:nvPr/>
        </p:nvSpPr>
        <p:spPr bwMode="auto">
          <a:xfrm>
            <a:off x="9692640" y="-1280160"/>
            <a:ext cx="3840480" cy="3840480"/>
          </a:xfrm>
          <a:prstGeom prst="ellipse">
            <a:avLst/>
          </a:prstGeom>
          <a:solidFill>
            <a:srgbClr val="26317A"/>
          </a:solidFill>
          <a:ln/>
        </p:spPr>
      </p:sp>
      <p:sp>
        <p:nvSpPr>
          <p:cNvPr id="1012428063" name="Shape 1"/>
          <p:cNvSpPr/>
          <p:nvPr/>
        </p:nvSpPr>
        <p:spPr bwMode="auto">
          <a:xfrm>
            <a:off x="10607040" y="4206240"/>
            <a:ext cx="2743200" cy="2743200"/>
          </a:xfrm>
          <a:prstGeom prst="ellipse">
            <a:avLst/>
          </a:prstGeom>
          <a:solidFill>
            <a:srgbClr val="26317A"/>
          </a:solidFill>
          <a:ln/>
        </p:spPr>
      </p:sp>
      <p:sp>
        <p:nvSpPr>
          <p:cNvPr id="206239117" name="Shape 2"/>
          <p:cNvSpPr/>
          <p:nvPr/>
        </p:nvSpPr>
        <p:spPr bwMode="auto">
          <a:xfrm>
            <a:off x="9857232" y="530352"/>
            <a:ext cx="402336" cy="402336"/>
          </a:xfrm>
          <a:prstGeom prst="ellipse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17891819" name="Shape 3"/>
          <p:cNvSpPr/>
          <p:nvPr/>
        </p:nvSpPr>
        <p:spPr bwMode="auto">
          <a:xfrm>
            <a:off x="10543032" y="1216151"/>
            <a:ext cx="402336" cy="402336"/>
          </a:xfrm>
          <a:prstGeom prst="ellipse">
            <a:avLst/>
          </a:prstGeom>
          <a:solidFill>
            <a:srgbClr val="E854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34201237" name="Shape 4"/>
          <p:cNvSpPr/>
          <p:nvPr/>
        </p:nvSpPr>
        <p:spPr bwMode="auto">
          <a:xfrm>
            <a:off x="9857232" y="1901952"/>
            <a:ext cx="402336" cy="402336"/>
          </a:xfrm>
          <a:prstGeom prst="ellipse">
            <a:avLst/>
          </a:prstGeom>
          <a:solidFill>
            <a:srgbClr val="CADCF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7569931" name="Shape 5"/>
          <p:cNvSpPr/>
          <p:nvPr/>
        </p:nvSpPr>
        <p:spPr bwMode="auto">
          <a:xfrm>
            <a:off x="9171432" y="1216151"/>
            <a:ext cx="402336" cy="402336"/>
          </a:xfrm>
          <a:prstGeom prst="ellipse">
            <a:avLst/>
          </a:prstGeom>
          <a:solidFill>
            <a:srgbClr val="E8543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58280055" name="Text 6"/>
          <p:cNvSpPr txBox="1"/>
          <p:nvPr/>
        </p:nvSpPr>
        <p:spPr bwMode="auto">
          <a:xfrm>
            <a:off x="82296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 spc="3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OPERATING SYSTEMS</a:t>
            </a:r>
            <a:endParaRPr lang="en-US" sz="1400"/>
          </a:p>
        </p:txBody>
      </p:sp>
      <p:sp>
        <p:nvSpPr>
          <p:cNvPr id="1011514055" name="Text 7"/>
          <p:cNvSpPr txBox="1"/>
          <p:nvPr/>
        </p:nvSpPr>
        <p:spPr bwMode="auto">
          <a:xfrm>
            <a:off x="777240" y="2331720"/>
            <a:ext cx="8686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6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Deadlock</a:t>
            </a:r>
            <a:endParaRPr lang="en-US" sz="6000"/>
          </a:p>
        </p:txBody>
      </p:sp>
      <p:sp>
        <p:nvSpPr>
          <p:cNvPr id="1138911810" name="Text 8"/>
          <p:cNvSpPr txBox="1"/>
          <p:nvPr/>
        </p:nvSpPr>
        <p:spPr bwMode="auto">
          <a:xfrm>
            <a:off x="822960" y="34290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0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What It Is &amp; How to Stop It — With Everyday Examples</a:t>
            </a:r>
            <a:endParaRPr lang="en-US" sz="2000"/>
          </a:p>
        </p:txBody>
      </p:sp>
      <p:sp>
        <p:nvSpPr>
          <p:cNvPr id="1804542927" name="Shape 9"/>
          <p:cNvSpPr/>
          <p:nvPr/>
        </p:nvSpPr>
        <p:spPr bwMode="auto">
          <a:xfrm>
            <a:off x="822960" y="4160519"/>
            <a:ext cx="1280160" cy="0"/>
          </a:xfrm>
          <a:prstGeom prst="line">
            <a:avLst/>
          </a:prstGeom>
          <a:noFill/>
          <a:ln w="38100">
            <a:solidFill>
              <a:srgbClr val="E8543E"/>
            </a:solidFill>
            <a:prstDash val="solid"/>
          </a:ln>
        </p:spPr>
      </p:sp>
      <p:sp>
        <p:nvSpPr>
          <p:cNvPr id="39107107" name="Text 10"/>
          <p:cNvSpPr txBox="1"/>
          <p:nvPr/>
        </p:nvSpPr>
        <p:spPr bwMode="auto">
          <a:xfrm>
            <a:off x="822960" y="4389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AEB9E8"/>
                </a:solidFill>
                <a:latin typeface="Calibri"/>
                <a:ea typeface="Calibri"/>
                <a:cs typeface="Calibri"/>
              </a:rPr>
              <a:t>When two programs get stuck waiting for each other forever — like two people</a:t>
            </a:r>
            <a:endParaRPr lang="en-US" sz="1300"/>
          </a:p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AEB9E8"/>
                </a:solidFill>
                <a:latin typeface="Calibri"/>
                <a:ea typeface="Calibri"/>
                <a:cs typeface="Calibri"/>
              </a:rPr>
              <a:t>each waiting for the other to move first. Here's why it happens and how to fix it.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:fade thruBlk="0"/>
      </p:transition>
    </mc:Choice>
    <mc:Fallback>
      <p:transition spd="slow" advClick="1">
        <p:fade thruBlk="0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7F8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709543" name="Text 0"/>
          <p:cNvSpPr txBox="1"/>
          <p:nvPr/>
        </p:nvSpPr>
        <p:spPr bwMode="auto"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What Is a Deadlock?</a:t>
            </a:r>
            <a:endParaRPr lang="en-US" sz="3200"/>
          </a:p>
        </p:txBody>
      </p:sp>
      <p:sp>
        <p:nvSpPr>
          <p:cNvPr id="1539291095" name="Text 1"/>
          <p:cNvSpPr txBox="1"/>
          <p:nvPr/>
        </p:nvSpPr>
        <p:spPr bwMode="auto">
          <a:xfrm>
            <a:off x="640080" y="11430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In simple words: a deadlock is when two (or more) programs each hold something the other needs, and both just wait forever. No one gives up what they have, so nothing ever happens.</a:t>
            </a:r>
            <a:endParaRPr lang="en-US" sz="1450"/>
          </a:p>
        </p:txBody>
      </p:sp>
      <p:sp>
        <p:nvSpPr>
          <p:cNvPr id="1901759574" name="Shape 2"/>
          <p:cNvSpPr/>
          <p:nvPr/>
        </p:nvSpPr>
        <p:spPr bwMode="auto">
          <a:xfrm>
            <a:off x="640080" y="2569464"/>
            <a:ext cx="91440" cy="9144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381521341" name="Text 3"/>
          <p:cNvSpPr txBox="1"/>
          <p:nvPr/>
        </p:nvSpPr>
        <p:spPr bwMode="auto">
          <a:xfrm>
            <a:off x="896112" y="23865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Every program in the group is stuck waiting</a:t>
            </a:r>
            <a:endParaRPr lang="en-US" sz="1350"/>
          </a:p>
        </p:txBody>
      </p:sp>
      <p:sp>
        <p:nvSpPr>
          <p:cNvPr id="407627351" name="Shape 4"/>
          <p:cNvSpPr/>
          <p:nvPr/>
        </p:nvSpPr>
        <p:spPr bwMode="auto">
          <a:xfrm>
            <a:off x="640080" y="3072384"/>
            <a:ext cx="91440" cy="9144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755706043" name="Text 5"/>
          <p:cNvSpPr txBox="1"/>
          <p:nvPr/>
        </p:nvSpPr>
        <p:spPr bwMode="auto">
          <a:xfrm>
            <a:off x="896112" y="28895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 one lets go of what they're already holding</a:t>
            </a:r>
            <a:endParaRPr lang="en-US" sz="1350"/>
          </a:p>
        </p:txBody>
      </p:sp>
      <p:sp>
        <p:nvSpPr>
          <p:cNvPr id="225414776" name="Shape 6"/>
          <p:cNvSpPr/>
          <p:nvPr/>
        </p:nvSpPr>
        <p:spPr bwMode="auto">
          <a:xfrm>
            <a:off x="640080" y="3575303"/>
            <a:ext cx="91440" cy="9144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855841828" name="Text 7"/>
          <p:cNvSpPr txBox="1"/>
          <p:nvPr/>
        </p:nvSpPr>
        <p:spPr bwMode="auto">
          <a:xfrm>
            <a:off x="896112" y="33924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Nothing outside can wake them up</a:t>
            </a:r>
            <a:endParaRPr lang="en-US" sz="1350"/>
          </a:p>
        </p:txBody>
      </p:sp>
      <p:sp>
        <p:nvSpPr>
          <p:cNvPr id="1729874818" name="Shape 8"/>
          <p:cNvSpPr/>
          <p:nvPr/>
        </p:nvSpPr>
        <p:spPr bwMode="auto">
          <a:xfrm>
            <a:off x="640080" y="4078224"/>
            <a:ext cx="91440" cy="9144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414563389" name="Text 9"/>
          <p:cNvSpPr txBox="1"/>
          <p:nvPr/>
        </p:nvSpPr>
        <p:spPr bwMode="auto">
          <a:xfrm>
            <a:off x="896112" y="3895343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The whole group is frozen — forever</a:t>
            </a:r>
            <a:endParaRPr lang="en-US" sz="1350"/>
          </a:p>
        </p:txBody>
      </p:sp>
      <p:sp>
        <p:nvSpPr>
          <p:cNvPr id="1133524895" name="Shape 10"/>
          <p:cNvSpPr/>
          <p:nvPr/>
        </p:nvSpPr>
        <p:spPr bwMode="auto">
          <a:xfrm>
            <a:off x="640080" y="4663440"/>
            <a:ext cx="5212080" cy="1463040"/>
          </a:xfrm>
          <a:prstGeom prst="roundRect">
            <a:avLst>
              <a:gd name="adj" fmla="val 5000"/>
            </a:avLst>
          </a:prstGeom>
          <a:solidFill>
            <a:srgbClr val="FBEAE7"/>
          </a:solidFill>
          <a:ln w="12700">
            <a:solidFill>
              <a:srgbClr val="E8543E"/>
            </a:solidFill>
            <a:prstDash val="solid"/>
          </a:ln>
        </p:spPr>
      </p:sp>
      <p:sp>
        <p:nvSpPr>
          <p:cNvPr id="142046053" name="Text 11"/>
          <p:cNvSpPr txBox="1"/>
          <p:nvPr/>
        </p:nvSpPr>
        <p:spPr bwMode="auto">
          <a:xfrm>
            <a:off x="868680" y="48280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 spc="100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REAL-LIFE EXAMPLE</a:t>
            </a:r>
            <a:endParaRPr lang="en-US" sz="1100"/>
          </a:p>
        </p:txBody>
      </p:sp>
      <p:sp>
        <p:nvSpPr>
          <p:cNvPr id="2129118846" name="Text 12"/>
          <p:cNvSpPr txBox="1"/>
          <p:nvPr/>
        </p:nvSpPr>
        <p:spPr bwMode="auto">
          <a:xfrm>
            <a:off x="868680" y="513892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is holding a Pen and needs a Notebook. Thameem is holding the Ruler and needs the Pen. Neither will let go first — so both just sit there waiting. That's a deadlock!</a:t>
            </a:r>
            <a:endParaRPr lang="en-US" sz="1250"/>
          </a:p>
        </p:txBody>
      </p:sp>
      <p:sp>
        <p:nvSpPr>
          <p:cNvPr id="346966447" name="Shape 13"/>
          <p:cNvSpPr/>
          <p:nvPr/>
        </p:nvSpPr>
        <p:spPr bwMode="auto">
          <a:xfrm>
            <a:off x="7360920" y="1417320"/>
            <a:ext cx="1143000" cy="1143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3570125" name="Text 14"/>
          <p:cNvSpPr txBox="1"/>
          <p:nvPr/>
        </p:nvSpPr>
        <p:spPr bwMode="auto">
          <a:xfrm>
            <a:off x="7360920" y="141732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Hari</a:t>
            </a:r>
            <a:endParaRPr lang="en-US" sz="1500"/>
          </a:p>
        </p:txBody>
      </p:sp>
      <p:sp>
        <p:nvSpPr>
          <p:cNvPr id="1490451229" name="Shape 15"/>
          <p:cNvSpPr/>
          <p:nvPr/>
        </p:nvSpPr>
        <p:spPr bwMode="auto">
          <a:xfrm>
            <a:off x="9464040" y="1554480"/>
            <a:ext cx="1874520" cy="868680"/>
          </a:xfrm>
          <a:prstGeom prst="roundRect">
            <a:avLst>
              <a:gd name="adj" fmla="val 10526"/>
            </a:avLst>
          </a:prstGeom>
          <a:solidFill>
            <a:srgbClr val="E8543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12247967" name="Text 16"/>
          <p:cNvSpPr txBox="1"/>
          <p:nvPr/>
        </p:nvSpPr>
        <p:spPr bwMode="auto">
          <a:xfrm>
            <a:off x="9464040" y="155448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Ruler</a:t>
            </a:r>
            <a:endParaRPr lang="en-US" sz="1300"/>
          </a:p>
        </p:txBody>
      </p:sp>
      <p:sp>
        <p:nvSpPr>
          <p:cNvPr id="1986983287" name="Shape 17"/>
          <p:cNvSpPr/>
          <p:nvPr/>
        </p:nvSpPr>
        <p:spPr bwMode="auto">
          <a:xfrm>
            <a:off x="9692640" y="3977640"/>
            <a:ext cx="1143000" cy="1143000"/>
          </a:xfrm>
          <a:prstGeom prst="ellipse">
            <a:avLst/>
          </a:prstGeom>
          <a:solidFill>
            <a:srgbClr val="1E2761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17130921" name="Text 18"/>
          <p:cNvSpPr txBox="1"/>
          <p:nvPr/>
        </p:nvSpPr>
        <p:spPr bwMode="auto">
          <a:xfrm>
            <a:off x="9692640" y="39776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Thameem</a:t>
            </a:r>
            <a:endParaRPr lang="en-US" sz="1500"/>
          </a:p>
        </p:txBody>
      </p:sp>
      <p:sp>
        <p:nvSpPr>
          <p:cNvPr id="1181397509" name="Shape 19"/>
          <p:cNvSpPr/>
          <p:nvPr/>
        </p:nvSpPr>
        <p:spPr bwMode="auto">
          <a:xfrm>
            <a:off x="7086600" y="4114800"/>
            <a:ext cx="1874520" cy="868680"/>
          </a:xfrm>
          <a:prstGeom prst="roundRect">
            <a:avLst>
              <a:gd name="adj" fmla="val 10526"/>
            </a:avLst>
          </a:prstGeom>
          <a:solidFill>
            <a:srgbClr val="E8543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68714708" name="Text 20"/>
          <p:cNvSpPr txBox="1"/>
          <p:nvPr/>
        </p:nvSpPr>
        <p:spPr bwMode="auto">
          <a:xfrm>
            <a:off x="7086600" y="4114800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Pen</a:t>
            </a:r>
            <a:endParaRPr lang="en-US" sz="1300"/>
          </a:p>
        </p:txBody>
      </p:sp>
      <p:sp>
        <p:nvSpPr>
          <p:cNvPr id="1497835639" name="Shape 21"/>
          <p:cNvSpPr/>
          <p:nvPr/>
        </p:nvSpPr>
        <p:spPr bwMode="auto">
          <a:xfrm flipH="0" flipV="0">
            <a:off x="8503919" y="1988820"/>
            <a:ext cx="77724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24177464" name="Shape 22"/>
          <p:cNvSpPr/>
          <p:nvPr/>
        </p:nvSpPr>
        <p:spPr bwMode="auto">
          <a:xfrm>
            <a:off x="10401300" y="2423160"/>
            <a:ext cx="0" cy="155448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421984662" name="Shape 23"/>
          <p:cNvSpPr/>
          <p:nvPr/>
        </p:nvSpPr>
        <p:spPr bwMode="auto">
          <a:xfrm>
            <a:off x="9692640" y="4549140"/>
            <a:ext cx="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914415519" name="Shape 24"/>
          <p:cNvSpPr/>
          <p:nvPr/>
        </p:nvSpPr>
        <p:spPr bwMode="auto">
          <a:xfrm>
            <a:off x="8001000" y="4114800"/>
            <a:ext cx="0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935518274" name="Text 25"/>
          <p:cNvSpPr txBox="1"/>
          <p:nvPr/>
        </p:nvSpPr>
        <p:spPr bwMode="auto">
          <a:xfrm>
            <a:off x="6858000" y="52578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Hari wants the Ruler (held by Thameem) · Thameem wants the Pen (held by Hari)</a:t>
            </a:r>
            <a:endParaRPr lang="en-US" sz="1150"/>
          </a:p>
        </p:txBody>
      </p:sp>
      <p:sp>
        <p:nvSpPr>
          <p:cNvPr id="614873228" name="Shape 21"/>
          <p:cNvSpPr/>
          <p:nvPr/>
        </p:nvSpPr>
        <p:spPr bwMode="auto">
          <a:xfrm flipH="0" flipV="1">
            <a:off x="7932420" y="2569463"/>
            <a:ext cx="0" cy="155448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977706799" name=""/>
          <p:cNvSpPr txBox="1"/>
          <p:nvPr/>
        </p:nvSpPr>
        <p:spPr bwMode="auto">
          <a:xfrm rot="0" flipH="0" flipV="0">
            <a:off x="8503919" y="1915583"/>
            <a:ext cx="100053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request</a:t>
            </a:r>
            <a:endParaRPr/>
          </a:p>
        </p:txBody>
      </p:sp>
      <p:sp>
        <p:nvSpPr>
          <p:cNvPr id="731065404" name=""/>
          <p:cNvSpPr txBox="1"/>
          <p:nvPr/>
        </p:nvSpPr>
        <p:spPr bwMode="auto">
          <a:xfrm rot="10800000" flipH="0" flipV="0">
            <a:off x="7543440" y="2969999"/>
            <a:ext cx="457560" cy="918000"/>
          </a:xfrm>
          <a:prstGeom prst="rect">
            <a:avLst/>
          </a:prstGeom>
          <a:noFill/>
        </p:spPr>
        <p:txBody>
          <a:bodyPr vertOverflow="overflow" horzOverflow="overflow" vert="vert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hold</a:t>
            </a:r>
            <a:endParaRPr/>
          </a:p>
        </p:txBody>
      </p:sp>
      <p:sp>
        <p:nvSpPr>
          <p:cNvPr id="952224012" name=""/>
          <p:cNvSpPr txBox="1"/>
          <p:nvPr/>
        </p:nvSpPr>
        <p:spPr bwMode="auto">
          <a:xfrm rot="0" flipH="0" flipV="0">
            <a:off x="10401300" y="2795903"/>
            <a:ext cx="457560" cy="918720"/>
          </a:xfrm>
          <a:prstGeom prst="rect">
            <a:avLst/>
          </a:prstGeom>
          <a:noFill/>
        </p:spPr>
        <p:txBody>
          <a:bodyPr vertOverflow="overflow" horzOverflow="overflow" vert="vert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hold</a:t>
            </a:r>
            <a:endParaRPr/>
          </a:p>
        </p:txBody>
      </p:sp>
      <p:sp>
        <p:nvSpPr>
          <p:cNvPr id="787879354" name="Shape 21"/>
          <p:cNvSpPr/>
          <p:nvPr/>
        </p:nvSpPr>
        <p:spPr bwMode="auto">
          <a:xfrm flipH="1" flipV="0">
            <a:off x="9033510" y="4549140"/>
            <a:ext cx="856113" cy="0"/>
          </a:xfrm>
          <a:prstGeom prst="line">
            <a:avLst/>
          </a:prstGeom>
          <a:noFill/>
          <a:ln w="25400">
            <a:solidFill>
              <a:srgbClr val="1B1F3B"/>
            </a:solidFill>
            <a:prstDash val="solid"/>
            <a:tailEnd type="triangle"/>
          </a:ln>
        </p:spPr>
      </p:sp>
      <p:sp>
        <p:nvSpPr>
          <p:cNvPr id="1819251790" name=""/>
          <p:cNvSpPr txBox="1"/>
          <p:nvPr/>
        </p:nvSpPr>
        <p:spPr bwMode="auto">
          <a:xfrm rot="0" flipH="0" flipV="0">
            <a:off x="8961120" y="4078404"/>
            <a:ext cx="1000894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request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05541" name="Text 0"/>
          <p:cNvSpPr txBox="1"/>
          <p:nvPr/>
        </p:nvSpPr>
        <p:spPr bwMode="auto"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The Four Necessary Conditions</a:t>
            </a:r>
            <a:endParaRPr lang="en-US" sz="3200"/>
          </a:p>
        </p:txBody>
      </p:sp>
      <p:sp>
        <p:nvSpPr>
          <p:cNvPr id="1247610995" name="Text 1"/>
          <p:cNvSpPr txBox="1"/>
          <p:nvPr/>
        </p:nvSpPr>
        <p:spPr bwMode="auto">
          <a:xfrm>
            <a:off x="64008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All four of these must be true at the Thameeme time for a deadlock to happen.</a:t>
            </a:r>
            <a:endParaRPr lang="en-US" sz="1400"/>
          </a:p>
        </p:txBody>
      </p:sp>
      <p:sp>
        <p:nvSpPr>
          <p:cNvPr id="187679273" name="Shape 2"/>
          <p:cNvSpPr/>
          <p:nvPr/>
        </p:nvSpPr>
        <p:spPr bwMode="auto">
          <a:xfrm>
            <a:off x="640080" y="17373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1536934744" name="Shape 3"/>
          <p:cNvSpPr/>
          <p:nvPr/>
        </p:nvSpPr>
        <p:spPr bwMode="auto">
          <a:xfrm>
            <a:off x="914400" y="2011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35752308" name="Text 4"/>
          <p:cNvSpPr txBox="1"/>
          <p:nvPr/>
        </p:nvSpPr>
        <p:spPr bwMode="auto">
          <a:xfrm>
            <a:off x="91440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800"/>
          </a:p>
        </p:txBody>
      </p:sp>
      <p:sp>
        <p:nvSpPr>
          <p:cNvPr id="753213924" name="Text 5"/>
          <p:cNvSpPr txBox="1"/>
          <p:nvPr/>
        </p:nvSpPr>
        <p:spPr bwMode="auto">
          <a:xfrm>
            <a:off x="1600200" y="1993392"/>
            <a:ext cx="4160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Mutual Exclusion</a:t>
            </a:r>
            <a:endParaRPr lang="en-US" sz="1600"/>
          </a:p>
        </p:txBody>
      </p:sp>
      <p:sp>
        <p:nvSpPr>
          <p:cNvPr id="1294467398" name="Text 6"/>
          <p:cNvSpPr txBox="1"/>
          <p:nvPr/>
        </p:nvSpPr>
        <p:spPr bwMode="auto">
          <a:xfrm>
            <a:off x="914400" y="26060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Only one process can use a resource at a time — it can't be shared.</a:t>
            </a:r>
            <a:endParaRPr lang="en-US" sz="1250"/>
          </a:p>
        </p:txBody>
      </p:sp>
      <p:sp>
        <p:nvSpPr>
          <p:cNvPr id="1560625711" name="Text 7"/>
          <p:cNvSpPr txBox="1"/>
          <p:nvPr/>
        </p:nvSpPr>
        <p:spPr bwMode="auto">
          <a:xfrm>
            <a:off x="914400" y="315468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150" i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e.g. Like a hotstar account — only one person can use it at once.</a:t>
            </a:r>
            <a:endParaRPr lang="en-US" sz="1150"/>
          </a:p>
        </p:txBody>
      </p:sp>
      <p:sp>
        <p:nvSpPr>
          <p:cNvPr id="1548416377" name="Shape 8"/>
          <p:cNvSpPr/>
          <p:nvPr/>
        </p:nvSpPr>
        <p:spPr bwMode="auto">
          <a:xfrm>
            <a:off x="6263640" y="17373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1425708991" name="Shape 9"/>
          <p:cNvSpPr/>
          <p:nvPr/>
        </p:nvSpPr>
        <p:spPr bwMode="auto">
          <a:xfrm>
            <a:off x="6537960" y="20116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33035460" name="Text 10"/>
          <p:cNvSpPr txBox="1"/>
          <p:nvPr/>
        </p:nvSpPr>
        <p:spPr bwMode="auto">
          <a:xfrm>
            <a:off x="6537960" y="2011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800"/>
          </a:p>
        </p:txBody>
      </p:sp>
      <p:sp>
        <p:nvSpPr>
          <p:cNvPr id="725850649" name="Text 11"/>
          <p:cNvSpPr txBox="1"/>
          <p:nvPr/>
        </p:nvSpPr>
        <p:spPr bwMode="auto">
          <a:xfrm>
            <a:off x="7223760" y="1993392"/>
            <a:ext cx="4160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Hold and Wait</a:t>
            </a:r>
            <a:endParaRPr lang="en-US" sz="1600"/>
          </a:p>
        </p:txBody>
      </p:sp>
      <p:sp>
        <p:nvSpPr>
          <p:cNvPr id="423045887" name="Text 12"/>
          <p:cNvSpPr txBox="1"/>
          <p:nvPr/>
        </p:nvSpPr>
        <p:spPr bwMode="auto">
          <a:xfrm>
            <a:off x="6537960" y="26060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A process is holding one thing while waiting to grab another.</a:t>
            </a:r>
            <a:endParaRPr lang="en-US" sz="1250"/>
          </a:p>
        </p:txBody>
      </p:sp>
      <p:sp>
        <p:nvSpPr>
          <p:cNvPr id="1131296128" name="Text 13"/>
          <p:cNvSpPr txBox="1"/>
          <p:nvPr/>
        </p:nvSpPr>
        <p:spPr bwMode="auto">
          <a:xfrm>
            <a:off x="6537960" y="315468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150" i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e.g. You're holding a fork, and waiting for someone to hand you a knife.</a:t>
            </a:r>
            <a:endParaRPr lang="en-US" sz="1150"/>
          </a:p>
        </p:txBody>
      </p:sp>
      <p:sp>
        <p:nvSpPr>
          <p:cNvPr id="2023835934" name="Shape 14"/>
          <p:cNvSpPr/>
          <p:nvPr/>
        </p:nvSpPr>
        <p:spPr bwMode="auto">
          <a:xfrm>
            <a:off x="640080" y="41148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2098307026" name="Shape 15"/>
          <p:cNvSpPr/>
          <p:nvPr/>
        </p:nvSpPr>
        <p:spPr bwMode="auto">
          <a:xfrm>
            <a:off x="914400" y="43891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1897541" name="Text 16"/>
          <p:cNvSpPr txBox="1"/>
          <p:nvPr/>
        </p:nvSpPr>
        <p:spPr bwMode="auto">
          <a:xfrm>
            <a:off x="91440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800"/>
          </a:p>
        </p:txBody>
      </p:sp>
      <p:sp>
        <p:nvSpPr>
          <p:cNvPr id="89011815" name="Text 17"/>
          <p:cNvSpPr txBox="1"/>
          <p:nvPr/>
        </p:nvSpPr>
        <p:spPr bwMode="auto">
          <a:xfrm>
            <a:off x="1600200" y="4370832"/>
            <a:ext cx="4160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 Preemption</a:t>
            </a:r>
            <a:endParaRPr lang="en-US" sz="1600"/>
          </a:p>
        </p:txBody>
      </p:sp>
      <p:sp>
        <p:nvSpPr>
          <p:cNvPr id="1277379622" name="Text 18"/>
          <p:cNvSpPr txBox="1"/>
          <p:nvPr/>
        </p:nvSpPr>
        <p:spPr bwMode="auto">
          <a:xfrm>
            <a:off x="914400" y="4983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No one can force a process to give up what it's already holding.</a:t>
            </a:r>
            <a:endParaRPr lang="en-US" sz="1250"/>
          </a:p>
        </p:txBody>
      </p:sp>
      <p:sp>
        <p:nvSpPr>
          <p:cNvPr id="1542700163" name="Text 19"/>
          <p:cNvSpPr txBox="1"/>
          <p:nvPr/>
        </p:nvSpPr>
        <p:spPr bwMode="auto">
          <a:xfrm>
            <a:off x="914400" y="553212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150" i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e.g. Nobody can snatch the fork out of your hand — you must put it down yourself.</a:t>
            </a:r>
            <a:endParaRPr lang="en-US" sz="1150"/>
          </a:p>
        </p:txBody>
      </p:sp>
      <p:sp>
        <p:nvSpPr>
          <p:cNvPr id="595187571" name="Shape 20"/>
          <p:cNvSpPr/>
          <p:nvPr/>
        </p:nvSpPr>
        <p:spPr bwMode="auto">
          <a:xfrm>
            <a:off x="6263640" y="411480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1723176447" name="Shape 21"/>
          <p:cNvSpPr/>
          <p:nvPr/>
        </p:nvSpPr>
        <p:spPr bwMode="auto">
          <a:xfrm>
            <a:off x="6537960" y="43891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4075030" name="Text 22"/>
          <p:cNvSpPr txBox="1"/>
          <p:nvPr/>
        </p:nvSpPr>
        <p:spPr bwMode="auto">
          <a:xfrm>
            <a:off x="6537960" y="4389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800"/>
          </a:p>
        </p:txBody>
      </p:sp>
      <p:sp>
        <p:nvSpPr>
          <p:cNvPr id="1887377552" name="Text 23"/>
          <p:cNvSpPr txBox="1"/>
          <p:nvPr/>
        </p:nvSpPr>
        <p:spPr bwMode="auto">
          <a:xfrm>
            <a:off x="7223760" y="4370832"/>
            <a:ext cx="41605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Circular Wait</a:t>
            </a:r>
            <a:endParaRPr lang="en-US" sz="1600"/>
          </a:p>
        </p:txBody>
      </p:sp>
      <p:sp>
        <p:nvSpPr>
          <p:cNvPr id="707823886" name="Text 24"/>
          <p:cNvSpPr txBox="1"/>
          <p:nvPr/>
        </p:nvSpPr>
        <p:spPr bwMode="auto">
          <a:xfrm>
            <a:off x="6537960" y="49834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Everyone is waiting on the next person, forming a closed loop.</a:t>
            </a:r>
            <a:endParaRPr lang="en-US" sz="1250"/>
          </a:p>
        </p:txBody>
      </p:sp>
      <p:sp>
        <p:nvSpPr>
          <p:cNvPr id="1553441480" name="Text 25"/>
          <p:cNvSpPr txBox="1"/>
          <p:nvPr/>
        </p:nvSpPr>
        <p:spPr bwMode="auto">
          <a:xfrm>
            <a:off x="6537960" y="5532120"/>
            <a:ext cx="4800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150" i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e.g. A waits for B, B waits for C, and C waits for A. The loop never breaks.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4:prism dir="r" isContent="1" isInverted="1"/>
      </p:transition>
    </mc:Choice>
    <mc:Fallback>
      <p:transition spd="slow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7F8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0545909" name="Text 0"/>
          <p:cNvSpPr txBox="1"/>
          <p:nvPr/>
        </p:nvSpPr>
        <p:spPr bwMode="auto"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Three Ways to Handle Deadlock</a:t>
            </a:r>
            <a:endParaRPr lang="en-US" sz="3200"/>
          </a:p>
        </p:txBody>
      </p:sp>
      <p:sp>
        <p:nvSpPr>
          <p:cNvPr id="1027139810" name="Text 1"/>
          <p:cNvSpPr txBox="1"/>
          <p:nvPr/>
        </p:nvSpPr>
        <p:spPr bwMode="auto">
          <a:xfrm>
            <a:off x="640080" y="1097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The computer's operating system can pick any one of these three approaches.</a:t>
            </a:r>
            <a:endParaRPr lang="en-US" sz="1400"/>
          </a:p>
        </p:txBody>
      </p:sp>
      <p:sp>
        <p:nvSpPr>
          <p:cNvPr id="1572607751" name="Shape 2"/>
          <p:cNvSpPr/>
          <p:nvPr/>
        </p:nvSpPr>
        <p:spPr bwMode="auto">
          <a:xfrm>
            <a:off x="640080" y="173736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blurRad="101600" dist="38100" dir="5400000" sx="100000" sy="100000" kx="0" ky="0" algn="bl" rotWithShape="0">
              <a:srgbClr val="44475A">
                <a:alpha val="18000"/>
              </a:srgbClr>
            </a:outerShdw>
          </a:effectLst>
        </p:spPr>
      </p:sp>
      <p:sp>
        <p:nvSpPr>
          <p:cNvPr id="410547937" name="Shape 3"/>
          <p:cNvSpPr/>
          <p:nvPr/>
        </p:nvSpPr>
        <p:spPr bwMode="auto">
          <a:xfrm>
            <a:off x="640080" y="1737360"/>
            <a:ext cx="34290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5414955" name="Shape 4"/>
          <p:cNvSpPr/>
          <p:nvPr/>
        </p:nvSpPr>
        <p:spPr bwMode="auto">
          <a:xfrm>
            <a:off x="640080" y="1993392"/>
            <a:ext cx="3429000" cy="2468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28271466" name="Text 5"/>
          <p:cNvSpPr txBox="1"/>
          <p:nvPr/>
        </p:nvSpPr>
        <p:spPr bwMode="auto">
          <a:xfrm>
            <a:off x="868680" y="17373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Prevention</a:t>
            </a:r>
            <a:endParaRPr lang="en-US" sz="1600"/>
          </a:p>
        </p:txBody>
      </p:sp>
      <p:sp>
        <p:nvSpPr>
          <p:cNvPr id="646375312" name="Text 6"/>
          <p:cNvSpPr txBox="1"/>
          <p:nvPr/>
        </p:nvSpPr>
        <p:spPr bwMode="auto">
          <a:xfrm>
            <a:off x="914400" y="251460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Stop deadlocks from ever forming, by making sure at least one of the four conditions can never happen.</a:t>
            </a:r>
            <a:endParaRPr lang="en-US" sz="1300"/>
          </a:p>
        </p:txBody>
      </p:sp>
      <p:sp>
        <p:nvSpPr>
          <p:cNvPr id="1136002388" name="Shape 7"/>
          <p:cNvSpPr/>
          <p:nvPr/>
        </p:nvSpPr>
        <p:spPr bwMode="auto">
          <a:xfrm>
            <a:off x="914400" y="5257800"/>
            <a:ext cx="2880360" cy="411480"/>
          </a:xfrm>
          <a:prstGeom prst="roundRect">
            <a:avLst>
              <a:gd name="adj" fmla="val 48889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29982302" name="Text 8"/>
          <p:cNvSpPr txBox="1"/>
          <p:nvPr/>
        </p:nvSpPr>
        <p:spPr bwMode="auto">
          <a:xfrm>
            <a:off x="914400" y="5257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Play it safe</a:t>
            </a:r>
            <a:endParaRPr lang="en-US" sz="1150"/>
          </a:p>
        </p:txBody>
      </p:sp>
      <p:sp>
        <p:nvSpPr>
          <p:cNvPr id="1553534050" name="Shape 9"/>
          <p:cNvSpPr/>
          <p:nvPr/>
        </p:nvSpPr>
        <p:spPr bwMode="auto">
          <a:xfrm>
            <a:off x="4297680" y="173736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blurRad="101600" dist="38100" dir="5400000" sx="100000" sy="100000" kx="0" ky="0" algn="bl" rotWithShape="0">
              <a:srgbClr val="44475A">
                <a:alpha val="18000"/>
              </a:srgbClr>
            </a:outerShdw>
          </a:effectLst>
        </p:spPr>
      </p:sp>
      <p:sp>
        <p:nvSpPr>
          <p:cNvPr id="1867631145" name="Shape 10"/>
          <p:cNvSpPr/>
          <p:nvPr/>
        </p:nvSpPr>
        <p:spPr bwMode="auto">
          <a:xfrm>
            <a:off x="4297680" y="1737360"/>
            <a:ext cx="3429000" cy="502920"/>
          </a:xfrm>
          <a:prstGeom prst="roundRect">
            <a:avLst>
              <a:gd name="adj" fmla="val 14545"/>
            </a:avLst>
          </a:prstGeom>
          <a:solidFill>
            <a:srgbClr val="3A4694"/>
          </a:solidFill>
          <a:ln/>
        </p:spPr>
      </p:sp>
      <p:sp>
        <p:nvSpPr>
          <p:cNvPr id="777552569" name="Shape 11"/>
          <p:cNvSpPr/>
          <p:nvPr/>
        </p:nvSpPr>
        <p:spPr bwMode="auto">
          <a:xfrm>
            <a:off x="4297680" y="1993392"/>
            <a:ext cx="3429000" cy="246888"/>
          </a:xfrm>
          <a:prstGeom prst="rect">
            <a:avLst/>
          </a:prstGeom>
          <a:solidFill>
            <a:srgbClr val="3A4694"/>
          </a:solidFill>
          <a:ln/>
        </p:spPr>
      </p:sp>
      <p:sp>
        <p:nvSpPr>
          <p:cNvPr id="1884582324" name="Text 12"/>
          <p:cNvSpPr txBox="1"/>
          <p:nvPr/>
        </p:nvSpPr>
        <p:spPr bwMode="auto">
          <a:xfrm>
            <a:off x="4526280" y="17373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Avoidance</a:t>
            </a:r>
            <a:endParaRPr lang="en-US" sz="1600"/>
          </a:p>
        </p:txBody>
      </p:sp>
      <p:sp>
        <p:nvSpPr>
          <p:cNvPr id="506711361" name="Text 13"/>
          <p:cNvSpPr txBox="1"/>
          <p:nvPr/>
        </p:nvSpPr>
        <p:spPr bwMode="auto">
          <a:xfrm>
            <a:off x="4572000" y="251460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Before saying yes to a request, check if it's still "safe" to grant. If not, make the process wait.</a:t>
            </a:r>
            <a:endParaRPr lang="en-US" sz="1300"/>
          </a:p>
        </p:txBody>
      </p:sp>
      <p:sp>
        <p:nvSpPr>
          <p:cNvPr id="1059065679" name="Shape 14"/>
          <p:cNvSpPr/>
          <p:nvPr/>
        </p:nvSpPr>
        <p:spPr bwMode="auto">
          <a:xfrm>
            <a:off x="4572000" y="5257800"/>
            <a:ext cx="2880360" cy="411480"/>
          </a:xfrm>
          <a:prstGeom prst="roundRect">
            <a:avLst>
              <a:gd name="adj" fmla="val 48889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291991910" name="Text 15"/>
          <p:cNvSpPr txBox="1"/>
          <p:nvPr/>
        </p:nvSpPr>
        <p:spPr bwMode="auto">
          <a:xfrm>
            <a:off x="4572000" y="5257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Think ahead</a:t>
            </a:r>
            <a:endParaRPr lang="en-US" sz="1150"/>
          </a:p>
        </p:txBody>
      </p:sp>
      <p:sp>
        <p:nvSpPr>
          <p:cNvPr id="1629696410" name="Shape 16"/>
          <p:cNvSpPr/>
          <p:nvPr/>
        </p:nvSpPr>
        <p:spPr bwMode="auto">
          <a:xfrm>
            <a:off x="7955280" y="173736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blurRad="101600" dist="38100" dir="5400000" sx="100000" sy="100000" kx="0" ky="0" algn="bl" rotWithShape="0">
              <a:srgbClr val="44475A">
                <a:alpha val="18000"/>
              </a:srgbClr>
            </a:outerShdw>
          </a:effectLst>
        </p:spPr>
      </p:sp>
      <p:sp>
        <p:nvSpPr>
          <p:cNvPr id="1395588740" name="Shape 17"/>
          <p:cNvSpPr/>
          <p:nvPr/>
        </p:nvSpPr>
        <p:spPr bwMode="auto">
          <a:xfrm>
            <a:off x="7955280" y="1737360"/>
            <a:ext cx="3429000" cy="502920"/>
          </a:xfrm>
          <a:prstGeom prst="roundRect">
            <a:avLst>
              <a:gd name="adj" fmla="val 14545"/>
            </a:avLst>
          </a:prstGeom>
          <a:solidFill>
            <a:srgbClr val="E8543E"/>
          </a:solidFill>
          <a:ln/>
        </p:spPr>
      </p:sp>
      <p:sp>
        <p:nvSpPr>
          <p:cNvPr id="1044500248" name="Shape 18"/>
          <p:cNvSpPr/>
          <p:nvPr/>
        </p:nvSpPr>
        <p:spPr bwMode="auto">
          <a:xfrm>
            <a:off x="7955280" y="1993392"/>
            <a:ext cx="3429000" cy="246888"/>
          </a:xfrm>
          <a:prstGeom prst="rect">
            <a:avLst/>
          </a:prstGeom>
          <a:solidFill>
            <a:srgbClr val="E8543E"/>
          </a:solidFill>
          <a:ln/>
        </p:spPr>
      </p:sp>
      <p:sp>
        <p:nvSpPr>
          <p:cNvPr id="2142381172" name="Text 19"/>
          <p:cNvSpPr txBox="1"/>
          <p:nvPr/>
        </p:nvSpPr>
        <p:spPr bwMode="auto">
          <a:xfrm>
            <a:off x="8183880" y="173736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Detection &amp; Recovery</a:t>
            </a:r>
            <a:endParaRPr lang="en-US" sz="1600"/>
          </a:p>
        </p:txBody>
      </p:sp>
      <p:sp>
        <p:nvSpPr>
          <p:cNvPr id="2131531228" name="Text 20"/>
          <p:cNvSpPr txBox="1"/>
          <p:nvPr/>
        </p:nvSpPr>
        <p:spPr bwMode="auto">
          <a:xfrm>
            <a:off x="8229600" y="251460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Let deadlocks happen, catch them by checking for loops, then fix it by stopping one process.</a:t>
            </a:r>
            <a:endParaRPr lang="en-US" sz="1300"/>
          </a:p>
        </p:txBody>
      </p:sp>
      <p:sp>
        <p:nvSpPr>
          <p:cNvPr id="1645925749" name="Shape 21"/>
          <p:cNvSpPr/>
          <p:nvPr/>
        </p:nvSpPr>
        <p:spPr bwMode="auto">
          <a:xfrm>
            <a:off x="8229600" y="5257800"/>
            <a:ext cx="2880360" cy="411480"/>
          </a:xfrm>
          <a:prstGeom prst="roundRect">
            <a:avLst>
              <a:gd name="adj" fmla="val 48889"/>
            </a:avLst>
          </a:prstGeom>
          <a:solidFill>
            <a:srgbClr val="F7F8FC"/>
          </a:solidFill>
          <a:ln w="12700">
            <a:solidFill>
              <a:srgbClr val="E2E6F5"/>
            </a:solidFill>
            <a:prstDash val="solid"/>
          </a:ln>
        </p:spPr>
      </p:sp>
      <p:sp>
        <p:nvSpPr>
          <p:cNvPr id="2006237335" name="Text 22"/>
          <p:cNvSpPr txBox="1"/>
          <p:nvPr/>
        </p:nvSpPr>
        <p:spPr bwMode="auto">
          <a:xfrm>
            <a:off x="8229600" y="525780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Fix it later</a:t>
            </a:r>
            <a:endParaRPr lang="en-US" sz="1150"/>
          </a:p>
        </p:txBody>
      </p:sp>
      <p:sp>
        <p:nvSpPr>
          <p:cNvPr id="1333977428" name="Text 23"/>
          <p:cNvSpPr txBox="1"/>
          <p:nvPr/>
        </p:nvSpPr>
        <p:spPr bwMode="auto">
          <a:xfrm>
            <a:off x="640080" y="6172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This deck focuses on Prevention — the easiest one to understand. Let's dive in!</a:t>
            </a:r>
            <a:endParaRPr lang="en-US" sz="12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14:flip dir="l"/>
      </p:transition>
    </mc:Choice>
    <mc:Fallback>
      <p:transition spd="slow" advClick="1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90596" name="Text 0"/>
          <p:cNvSpPr txBox="1"/>
          <p:nvPr/>
        </p:nvSpPr>
        <p:spPr bwMode="auto">
          <a:xfrm>
            <a:off x="640080" y="502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Deadlock Prevention</a:t>
            </a:r>
            <a:endParaRPr lang="en-US" sz="3200"/>
          </a:p>
        </p:txBody>
      </p:sp>
      <p:sp>
        <p:nvSpPr>
          <p:cNvPr id="2023195244" name="Text 1"/>
          <p:cNvSpPr txBox="1"/>
          <p:nvPr/>
        </p:nvSpPr>
        <p:spPr bwMode="auto">
          <a:xfrm>
            <a:off x="640080" y="11887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The trick is simple: break just ONE of the four conditions, and deadlock can't happen at all.</a:t>
            </a:r>
            <a:endParaRPr lang="en-US" sz="1500"/>
          </a:p>
        </p:txBody>
      </p:sp>
      <p:sp>
        <p:nvSpPr>
          <p:cNvPr id="410127750" name="Shape 2"/>
          <p:cNvSpPr/>
          <p:nvPr/>
        </p:nvSpPr>
        <p:spPr bwMode="auto">
          <a:xfrm>
            <a:off x="640080" y="1965960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26317A"/>
          </a:solidFill>
          <a:ln/>
        </p:spPr>
      </p:sp>
      <p:sp>
        <p:nvSpPr>
          <p:cNvPr id="1783294680" name="Shape 3"/>
          <p:cNvSpPr/>
          <p:nvPr/>
        </p:nvSpPr>
        <p:spPr bwMode="auto">
          <a:xfrm>
            <a:off x="868680" y="2148840"/>
            <a:ext cx="2468880" cy="512064"/>
          </a:xfrm>
          <a:prstGeom prst="roundRect">
            <a:avLst>
              <a:gd name="adj" fmla="val 50000"/>
            </a:avLst>
          </a:prstGeom>
          <a:solidFill>
            <a:srgbClr val="E8543E"/>
          </a:solidFill>
          <a:ln/>
        </p:spPr>
      </p:sp>
      <p:sp>
        <p:nvSpPr>
          <p:cNvPr id="1242610896" name="Text 4"/>
          <p:cNvSpPr txBox="1"/>
          <p:nvPr/>
        </p:nvSpPr>
        <p:spPr bwMode="auto">
          <a:xfrm>
            <a:off x="868680" y="214884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Mutual Exclusion</a:t>
            </a:r>
            <a:endParaRPr lang="en-US" sz="1250"/>
          </a:p>
        </p:txBody>
      </p:sp>
      <p:sp>
        <p:nvSpPr>
          <p:cNvPr id="2045687362" name="Text 5"/>
          <p:cNvSpPr txBox="1"/>
          <p:nvPr/>
        </p:nvSpPr>
        <p:spPr bwMode="auto">
          <a:xfrm>
            <a:off x="3520440" y="1965960"/>
            <a:ext cx="7818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Let resources be shared when possible (like a read-only file everyone can view at once).</a:t>
            </a:r>
            <a:endParaRPr lang="en-US" sz="1250"/>
          </a:p>
        </p:txBody>
      </p:sp>
      <p:sp>
        <p:nvSpPr>
          <p:cNvPr id="373250947" name="Shape 6"/>
          <p:cNvSpPr/>
          <p:nvPr/>
        </p:nvSpPr>
        <p:spPr bwMode="auto">
          <a:xfrm>
            <a:off x="640080" y="2990088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26317A"/>
          </a:solidFill>
          <a:ln/>
        </p:spPr>
      </p:sp>
      <p:sp>
        <p:nvSpPr>
          <p:cNvPr id="742986826" name="Shape 7"/>
          <p:cNvSpPr/>
          <p:nvPr/>
        </p:nvSpPr>
        <p:spPr bwMode="auto">
          <a:xfrm>
            <a:off x="868680" y="3172968"/>
            <a:ext cx="2468880" cy="512064"/>
          </a:xfrm>
          <a:prstGeom prst="roundRect">
            <a:avLst>
              <a:gd name="adj" fmla="val 50000"/>
            </a:avLst>
          </a:prstGeom>
          <a:solidFill>
            <a:srgbClr val="E8543E"/>
          </a:solidFill>
          <a:ln/>
        </p:spPr>
      </p:sp>
      <p:sp>
        <p:nvSpPr>
          <p:cNvPr id="1103632070" name="Text 8"/>
          <p:cNvSpPr txBox="1"/>
          <p:nvPr/>
        </p:nvSpPr>
        <p:spPr bwMode="auto">
          <a:xfrm>
            <a:off x="868680" y="3172968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Hold and Wait</a:t>
            </a:r>
            <a:endParaRPr lang="en-US" sz="1250"/>
          </a:p>
        </p:txBody>
      </p:sp>
      <p:sp>
        <p:nvSpPr>
          <p:cNvPr id="1890814750" name="Text 9"/>
          <p:cNvSpPr txBox="1"/>
          <p:nvPr/>
        </p:nvSpPr>
        <p:spPr bwMode="auto">
          <a:xfrm>
            <a:off x="3520440" y="2990088"/>
            <a:ext cx="7818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Make a process ask for everything it needs at the start, instead of grabbing things one by one.</a:t>
            </a:r>
            <a:endParaRPr lang="en-US" sz="1250"/>
          </a:p>
        </p:txBody>
      </p:sp>
      <p:sp>
        <p:nvSpPr>
          <p:cNvPr id="1706135723" name="Shape 10"/>
          <p:cNvSpPr/>
          <p:nvPr/>
        </p:nvSpPr>
        <p:spPr bwMode="auto">
          <a:xfrm>
            <a:off x="640080" y="4014216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26317A"/>
          </a:solidFill>
          <a:ln/>
        </p:spPr>
      </p:sp>
      <p:sp>
        <p:nvSpPr>
          <p:cNvPr id="525967393" name="Shape 11"/>
          <p:cNvSpPr/>
          <p:nvPr/>
        </p:nvSpPr>
        <p:spPr bwMode="auto">
          <a:xfrm>
            <a:off x="868680" y="4197096"/>
            <a:ext cx="2468880" cy="512064"/>
          </a:xfrm>
          <a:prstGeom prst="roundRect">
            <a:avLst>
              <a:gd name="adj" fmla="val 50000"/>
            </a:avLst>
          </a:prstGeom>
          <a:solidFill>
            <a:srgbClr val="E8543E"/>
          </a:solidFill>
          <a:ln/>
        </p:spPr>
      </p:sp>
      <p:sp>
        <p:nvSpPr>
          <p:cNvPr id="779518670" name="Text 12"/>
          <p:cNvSpPr txBox="1"/>
          <p:nvPr/>
        </p:nvSpPr>
        <p:spPr bwMode="auto">
          <a:xfrm>
            <a:off x="868680" y="4197096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Preemption</a:t>
            </a:r>
            <a:endParaRPr lang="en-US" sz="1250"/>
          </a:p>
        </p:txBody>
      </p:sp>
      <p:sp>
        <p:nvSpPr>
          <p:cNvPr id="1122773338" name="Text 13"/>
          <p:cNvSpPr txBox="1"/>
          <p:nvPr/>
        </p:nvSpPr>
        <p:spPr bwMode="auto">
          <a:xfrm>
            <a:off x="3520440" y="4014216"/>
            <a:ext cx="7818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If a process can't get what it needs, take back what it's already holding until it can get everything together.</a:t>
            </a:r>
            <a:endParaRPr lang="en-US" sz="1250"/>
          </a:p>
        </p:txBody>
      </p:sp>
      <p:sp>
        <p:nvSpPr>
          <p:cNvPr id="938005888" name="Shape 14"/>
          <p:cNvSpPr/>
          <p:nvPr/>
        </p:nvSpPr>
        <p:spPr bwMode="auto">
          <a:xfrm>
            <a:off x="640080" y="5038344"/>
            <a:ext cx="10881360" cy="877824"/>
          </a:xfrm>
          <a:prstGeom prst="roundRect">
            <a:avLst>
              <a:gd name="adj" fmla="val 6250"/>
            </a:avLst>
          </a:prstGeom>
          <a:solidFill>
            <a:srgbClr val="26317A"/>
          </a:solidFill>
          <a:ln/>
        </p:spPr>
      </p:sp>
      <p:sp>
        <p:nvSpPr>
          <p:cNvPr id="1085335900" name="Shape 15"/>
          <p:cNvSpPr/>
          <p:nvPr/>
        </p:nvSpPr>
        <p:spPr bwMode="auto">
          <a:xfrm>
            <a:off x="868680" y="5221224"/>
            <a:ext cx="2468880" cy="512064"/>
          </a:xfrm>
          <a:prstGeom prst="roundRect">
            <a:avLst>
              <a:gd name="adj" fmla="val 50000"/>
            </a:avLst>
          </a:prstGeom>
          <a:solidFill>
            <a:srgbClr val="E8543E"/>
          </a:solidFill>
          <a:ln/>
        </p:spPr>
      </p:sp>
      <p:sp>
        <p:nvSpPr>
          <p:cNvPr id="1229032675" name="Text 16"/>
          <p:cNvSpPr txBox="1"/>
          <p:nvPr/>
        </p:nvSpPr>
        <p:spPr bwMode="auto">
          <a:xfrm>
            <a:off x="868680" y="5221224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Circular Wait</a:t>
            </a:r>
            <a:endParaRPr lang="en-US" sz="1250"/>
          </a:p>
        </p:txBody>
      </p:sp>
      <p:sp>
        <p:nvSpPr>
          <p:cNvPr id="724010330" name="Text 17"/>
          <p:cNvSpPr txBox="1"/>
          <p:nvPr/>
        </p:nvSpPr>
        <p:spPr bwMode="auto">
          <a:xfrm>
            <a:off x="3520440" y="5038344"/>
            <a:ext cx="78181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Give every resource a fixed number, and only allow requests in increasing order — so no loop can ever form.</a:t>
            </a:r>
            <a:endParaRPr lang="en-US" sz="12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8941124" name="Text 0"/>
          <p:cNvSpPr txBox="1"/>
          <p:nvPr/>
        </p:nvSpPr>
        <p:spPr bwMode="auto"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Fixing Condition 1 &amp; 2</a:t>
            </a:r>
            <a:endParaRPr lang="en-US" sz="2700"/>
          </a:p>
        </p:txBody>
      </p:sp>
      <p:sp>
        <p:nvSpPr>
          <p:cNvPr id="775352608" name="Shape 1"/>
          <p:cNvSpPr/>
          <p:nvPr/>
        </p:nvSpPr>
        <p:spPr bwMode="auto">
          <a:xfrm>
            <a:off x="640080" y="141732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7F8FC"/>
          </a:solidFill>
          <a:ln/>
        </p:spPr>
      </p:sp>
      <p:sp>
        <p:nvSpPr>
          <p:cNvPr id="1266702260" name="Shape 2"/>
          <p:cNvSpPr/>
          <p:nvPr/>
        </p:nvSpPr>
        <p:spPr bwMode="auto">
          <a:xfrm>
            <a:off x="960120" y="17373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701872650" name="Text 3"/>
          <p:cNvSpPr txBox="1"/>
          <p:nvPr/>
        </p:nvSpPr>
        <p:spPr bwMode="auto">
          <a:xfrm>
            <a:off x="9601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2000"/>
          </a:p>
        </p:txBody>
      </p:sp>
      <p:sp>
        <p:nvSpPr>
          <p:cNvPr id="1833703560" name="Text 4"/>
          <p:cNvSpPr txBox="1"/>
          <p:nvPr/>
        </p:nvSpPr>
        <p:spPr bwMode="auto">
          <a:xfrm>
            <a:off x="1645920" y="178308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Mutual Exclusion</a:t>
            </a:r>
            <a:endParaRPr lang="en-US" sz="1800"/>
          </a:p>
        </p:txBody>
      </p:sp>
      <p:sp>
        <p:nvSpPr>
          <p:cNvPr id="824048186" name="Text 5"/>
          <p:cNvSpPr txBox="1"/>
          <p:nvPr/>
        </p:nvSpPr>
        <p:spPr bwMode="auto">
          <a:xfrm>
            <a:off x="960120" y="2468880"/>
            <a:ext cx="4709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We can't always avoid this — some things (like a printer) truly can only be used by one person at a time. But we can still help:</a:t>
            </a:r>
            <a:endParaRPr lang="en-US" sz="1250"/>
          </a:p>
        </p:txBody>
      </p:sp>
      <p:sp>
        <p:nvSpPr>
          <p:cNvPr id="1594629111" name="Shape 6"/>
          <p:cNvSpPr/>
          <p:nvPr/>
        </p:nvSpPr>
        <p:spPr bwMode="auto">
          <a:xfrm>
            <a:off x="960120" y="3255264"/>
            <a:ext cx="82296" cy="82296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262873574" name="Text 7"/>
          <p:cNvSpPr txBox="1"/>
          <p:nvPr/>
        </p:nvSpPr>
        <p:spPr bwMode="auto">
          <a:xfrm>
            <a:off x="1188720" y="308152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Let shareable things (like a read-only file) be used by many at once</a:t>
            </a:r>
            <a:endParaRPr lang="en-US" sz="1200"/>
          </a:p>
        </p:txBody>
      </p:sp>
      <p:sp>
        <p:nvSpPr>
          <p:cNvPr id="1010141417" name="Shape 8"/>
          <p:cNvSpPr/>
          <p:nvPr/>
        </p:nvSpPr>
        <p:spPr bwMode="auto">
          <a:xfrm>
            <a:off x="960120" y="3822192"/>
            <a:ext cx="82296" cy="82296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69311390" name="Text 9"/>
          <p:cNvSpPr txBox="1"/>
          <p:nvPr/>
        </p:nvSpPr>
        <p:spPr bwMode="auto">
          <a:xfrm>
            <a:off x="1188720" y="364845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For a printer, add a queue so requests line up instead of getting stuck</a:t>
            </a:r>
            <a:endParaRPr lang="en-US" sz="1200"/>
          </a:p>
        </p:txBody>
      </p:sp>
      <p:sp>
        <p:nvSpPr>
          <p:cNvPr id="1467857001" name="Shape 10"/>
          <p:cNvSpPr/>
          <p:nvPr/>
        </p:nvSpPr>
        <p:spPr bwMode="auto">
          <a:xfrm>
            <a:off x="960120" y="4480560"/>
            <a:ext cx="4709160" cy="0"/>
          </a:xfrm>
          <a:prstGeom prst="line">
            <a:avLst/>
          </a:prstGeom>
          <a:noFill/>
          <a:ln w="12700">
            <a:solidFill>
              <a:srgbClr val="E2E6F5"/>
            </a:solidFill>
            <a:prstDash val="solid"/>
          </a:ln>
        </p:spPr>
      </p:sp>
      <p:sp>
        <p:nvSpPr>
          <p:cNvPr id="634434220" name="Shape 11"/>
          <p:cNvSpPr/>
          <p:nvPr/>
        </p:nvSpPr>
        <p:spPr bwMode="auto">
          <a:xfrm>
            <a:off x="960120" y="46634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388572800" name="Text 12"/>
          <p:cNvSpPr txBox="1"/>
          <p:nvPr/>
        </p:nvSpPr>
        <p:spPr bwMode="auto">
          <a:xfrm>
            <a:off x="9601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2000"/>
          </a:p>
        </p:txBody>
      </p:sp>
      <p:sp>
        <p:nvSpPr>
          <p:cNvPr id="172727176" name="Text 13"/>
          <p:cNvSpPr txBox="1"/>
          <p:nvPr/>
        </p:nvSpPr>
        <p:spPr bwMode="auto">
          <a:xfrm>
            <a:off x="1645920" y="4709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Hold and Wait</a:t>
            </a:r>
            <a:endParaRPr lang="en-US" sz="1800"/>
          </a:p>
        </p:txBody>
      </p:sp>
      <p:sp>
        <p:nvSpPr>
          <p:cNvPr id="1018991644" name="Text 14"/>
          <p:cNvSpPr txBox="1"/>
          <p:nvPr/>
        </p:nvSpPr>
        <p:spPr bwMode="auto">
          <a:xfrm>
            <a:off x="960120" y="5394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The fix: make a process ask for everything it needs before it starts — never let it hold one thing while asking for another.</a:t>
            </a:r>
            <a:endParaRPr lang="en-US" sz="1250"/>
          </a:p>
        </p:txBody>
      </p:sp>
      <p:sp>
        <p:nvSpPr>
          <p:cNvPr id="354876295" name="Shape 15"/>
          <p:cNvSpPr/>
          <p:nvPr/>
        </p:nvSpPr>
        <p:spPr bwMode="auto">
          <a:xfrm>
            <a:off x="6400800" y="141732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FBEAE7"/>
          </a:solidFill>
          <a:ln w="12700">
            <a:solidFill>
              <a:srgbClr val="E8543E"/>
            </a:solidFill>
            <a:prstDash val="solid"/>
          </a:ln>
        </p:spPr>
      </p:sp>
      <p:sp>
        <p:nvSpPr>
          <p:cNvPr id="1106359345" name="Text 16"/>
          <p:cNvSpPr txBox="1"/>
          <p:nvPr/>
        </p:nvSpPr>
        <p:spPr bwMode="auto">
          <a:xfrm>
            <a:off x="6675120" y="1600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E8543E"/>
                </a:solidFill>
                <a:latin typeface="Calibri"/>
                <a:ea typeface="Calibri"/>
                <a:cs typeface="Calibri"/>
              </a:rPr>
              <a:t>Without prevention</a:t>
            </a:r>
            <a:endParaRPr lang="en-US" sz="1250"/>
          </a:p>
        </p:txBody>
      </p:sp>
      <p:sp>
        <p:nvSpPr>
          <p:cNvPr id="1866532698" name="Text 17"/>
          <p:cNvSpPr txBox="1"/>
          <p:nvPr/>
        </p:nvSpPr>
        <p:spPr bwMode="auto">
          <a:xfrm>
            <a:off x="6675120" y="20116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picks up the Pen, then asks for the Ruler while still holding the Pen. If Thameem does the Thameeme thing in reverse, they get stuck — just like our earlier example.</a:t>
            </a:r>
            <a:endParaRPr lang="en-US" sz="1300"/>
          </a:p>
        </p:txBody>
      </p:sp>
      <p:sp>
        <p:nvSpPr>
          <p:cNvPr id="1714715266" name="Shape 18"/>
          <p:cNvSpPr/>
          <p:nvPr/>
        </p:nvSpPr>
        <p:spPr bwMode="auto">
          <a:xfrm>
            <a:off x="6400800" y="3977640"/>
            <a:ext cx="5120640" cy="2286000"/>
          </a:xfrm>
          <a:prstGeom prst="roundRect">
            <a:avLst>
              <a:gd name="adj" fmla="val 3200"/>
            </a:avLst>
          </a:prstGeom>
          <a:solidFill>
            <a:srgbClr val="E7EC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0612489" name="Text 19"/>
          <p:cNvSpPr txBox="1"/>
          <p:nvPr/>
        </p:nvSpPr>
        <p:spPr bwMode="auto">
          <a:xfrm>
            <a:off x="6675120" y="4160519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With prevention</a:t>
            </a:r>
            <a:endParaRPr lang="en-US" sz="1250"/>
          </a:p>
        </p:txBody>
      </p:sp>
      <p:sp>
        <p:nvSpPr>
          <p:cNvPr id="1789960196" name="Text 20"/>
          <p:cNvSpPr txBox="1"/>
          <p:nvPr/>
        </p:nvSpPr>
        <p:spPr bwMode="auto">
          <a:xfrm>
            <a:off x="6675120" y="457200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must ask for the Pen </a:t>
            </a:r>
            <a:r>
              <a:rPr lang="en-US" sz="13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AND</a:t>
            </a: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 the Ruler together, right at the start. If both aren't free, Hari simply waits — and never ends up holding just one item.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 advClick="1">
        <p:comb dir="horz"/>
      </p:transition>
    </mc:Choice>
    <mc:Fallback>
      <p:transition spd="slow" advClick="1">
        <p:comb dir="horz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777718" name="Text 0"/>
          <p:cNvSpPr txBox="1"/>
          <p:nvPr/>
        </p:nvSpPr>
        <p:spPr bwMode="auto"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7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Fixing Condition 3 &amp; 4</a:t>
            </a:r>
            <a:endParaRPr lang="en-US" sz="2700"/>
          </a:p>
        </p:txBody>
      </p:sp>
      <p:sp>
        <p:nvSpPr>
          <p:cNvPr id="745642266" name="Shape 1"/>
          <p:cNvSpPr/>
          <p:nvPr/>
        </p:nvSpPr>
        <p:spPr bwMode="auto">
          <a:xfrm>
            <a:off x="640080" y="1417320"/>
            <a:ext cx="5349240" cy="4846320"/>
          </a:xfrm>
          <a:prstGeom prst="roundRect">
            <a:avLst>
              <a:gd name="adj" fmla="val 1509"/>
            </a:avLst>
          </a:prstGeom>
          <a:solidFill>
            <a:srgbClr val="F7F8FC"/>
          </a:solidFill>
          <a:ln/>
        </p:spPr>
      </p:sp>
      <p:sp>
        <p:nvSpPr>
          <p:cNvPr id="1246379275" name="Shape 2"/>
          <p:cNvSpPr/>
          <p:nvPr/>
        </p:nvSpPr>
        <p:spPr bwMode="auto">
          <a:xfrm>
            <a:off x="960120" y="17373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409559882" name="Text 3"/>
          <p:cNvSpPr txBox="1"/>
          <p:nvPr/>
        </p:nvSpPr>
        <p:spPr bwMode="auto">
          <a:xfrm>
            <a:off x="96012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2000"/>
          </a:p>
        </p:txBody>
      </p:sp>
      <p:sp>
        <p:nvSpPr>
          <p:cNvPr id="1527712552" name="Text 4"/>
          <p:cNvSpPr txBox="1"/>
          <p:nvPr/>
        </p:nvSpPr>
        <p:spPr bwMode="auto">
          <a:xfrm>
            <a:off x="1645920" y="178308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 Preemption</a:t>
            </a:r>
            <a:endParaRPr lang="en-US" sz="1800"/>
          </a:p>
        </p:txBody>
      </p:sp>
      <p:sp>
        <p:nvSpPr>
          <p:cNvPr id="116201805" name="Text 5"/>
          <p:cNvSpPr txBox="1"/>
          <p:nvPr/>
        </p:nvSpPr>
        <p:spPr bwMode="auto">
          <a:xfrm>
            <a:off x="960120" y="246888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The fix: if a process can't get a resource it needs, just take back everything it's already holding — don't let it sit and wait.</a:t>
            </a:r>
            <a:endParaRPr lang="en-US" sz="1250"/>
          </a:p>
        </p:txBody>
      </p:sp>
      <p:sp>
        <p:nvSpPr>
          <p:cNvPr id="1804630664" name="Shape 6"/>
          <p:cNvSpPr/>
          <p:nvPr/>
        </p:nvSpPr>
        <p:spPr bwMode="auto">
          <a:xfrm>
            <a:off x="960120" y="3346704"/>
            <a:ext cx="82296" cy="82296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455616151" name="Text 7"/>
          <p:cNvSpPr txBox="1"/>
          <p:nvPr/>
        </p:nvSpPr>
        <p:spPr bwMode="auto">
          <a:xfrm>
            <a:off x="1188720" y="31729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must put the Pen back down if the Ruler isn't free</a:t>
            </a:r>
            <a:endParaRPr lang="en-US" sz="1200"/>
          </a:p>
        </p:txBody>
      </p:sp>
      <p:sp>
        <p:nvSpPr>
          <p:cNvPr id="947364566" name="Shape 8"/>
          <p:cNvSpPr/>
          <p:nvPr/>
        </p:nvSpPr>
        <p:spPr bwMode="auto">
          <a:xfrm>
            <a:off x="960120" y="3913632"/>
            <a:ext cx="82296" cy="82296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783939648" name="Text 9"/>
          <p:cNvSpPr txBox="1"/>
          <p:nvPr/>
        </p:nvSpPr>
        <p:spPr bwMode="auto">
          <a:xfrm>
            <a:off x="1188720" y="373989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Hari tries again later, once both items can be given together</a:t>
            </a:r>
            <a:endParaRPr lang="en-US" sz="1200"/>
          </a:p>
        </p:txBody>
      </p:sp>
      <p:sp>
        <p:nvSpPr>
          <p:cNvPr id="917999287" name="Shape 10"/>
          <p:cNvSpPr/>
          <p:nvPr/>
        </p:nvSpPr>
        <p:spPr bwMode="auto">
          <a:xfrm>
            <a:off x="960120" y="4480560"/>
            <a:ext cx="4709160" cy="0"/>
          </a:xfrm>
          <a:prstGeom prst="line">
            <a:avLst/>
          </a:prstGeom>
          <a:noFill/>
          <a:ln w="12700">
            <a:solidFill>
              <a:srgbClr val="E2E6F5"/>
            </a:solidFill>
            <a:prstDash val="solid"/>
          </a:ln>
        </p:spPr>
      </p:sp>
      <p:sp>
        <p:nvSpPr>
          <p:cNvPr id="907853075" name="Shape 11"/>
          <p:cNvSpPr/>
          <p:nvPr/>
        </p:nvSpPr>
        <p:spPr bwMode="auto">
          <a:xfrm>
            <a:off x="960120" y="46634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924838987" name="Text 12"/>
          <p:cNvSpPr txBox="1"/>
          <p:nvPr/>
        </p:nvSpPr>
        <p:spPr bwMode="auto">
          <a:xfrm>
            <a:off x="9601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2000"/>
          </a:p>
        </p:txBody>
      </p:sp>
      <p:sp>
        <p:nvSpPr>
          <p:cNvPr id="1174866646" name="Text 13"/>
          <p:cNvSpPr txBox="1"/>
          <p:nvPr/>
        </p:nvSpPr>
        <p:spPr bwMode="auto">
          <a:xfrm>
            <a:off x="1645920" y="47091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Circular Wait</a:t>
            </a:r>
            <a:endParaRPr lang="en-US" sz="1800"/>
          </a:p>
        </p:txBody>
      </p:sp>
      <p:sp>
        <p:nvSpPr>
          <p:cNvPr id="673896545" name="Text 14"/>
          <p:cNvSpPr txBox="1"/>
          <p:nvPr/>
        </p:nvSpPr>
        <p:spPr bwMode="auto">
          <a:xfrm>
            <a:off x="960120" y="539496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25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The fix: give every item a fixed number, and only allow people to ask for items in that order — going up, never down.</a:t>
            </a:r>
            <a:endParaRPr lang="en-US" sz="1250"/>
          </a:p>
        </p:txBody>
      </p:sp>
      <p:sp>
        <p:nvSpPr>
          <p:cNvPr id="846473633" name="Shape 15"/>
          <p:cNvSpPr/>
          <p:nvPr/>
        </p:nvSpPr>
        <p:spPr bwMode="auto">
          <a:xfrm>
            <a:off x="6400800" y="1417320"/>
            <a:ext cx="5120640" cy="4846320"/>
          </a:xfrm>
          <a:prstGeom prst="roundRect">
            <a:avLst>
              <a:gd name="adj" fmla="val 1509"/>
            </a:avLst>
          </a:prstGeom>
          <a:solidFill>
            <a:srgbClr val="E7ECFB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33512975" name="Text 16"/>
          <p:cNvSpPr txBox="1"/>
          <p:nvPr/>
        </p:nvSpPr>
        <p:spPr bwMode="auto">
          <a:xfrm>
            <a:off x="672084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Give every item a number</a:t>
            </a:r>
            <a:endParaRPr lang="en-US" sz="1400"/>
          </a:p>
        </p:txBody>
      </p:sp>
      <p:sp>
        <p:nvSpPr>
          <p:cNvPr id="1690369832" name="Shape 17"/>
          <p:cNvSpPr/>
          <p:nvPr/>
        </p:nvSpPr>
        <p:spPr bwMode="auto">
          <a:xfrm>
            <a:off x="6720840" y="2286000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0851135" name="Shape 18"/>
          <p:cNvSpPr/>
          <p:nvPr/>
        </p:nvSpPr>
        <p:spPr bwMode="auto">
          <a:xfrm>
            <a:off x="6903720" y="2404872"/>
            <a:ext cx="365760" cy="36576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546557846" name="Text 19"/>
          <p:cNvSpPr txBox="1"/>
          <p:nvPr/>
        </p:nvSpPr>
        <p:spPr bwMode="auto">
          <a:xfrm>
            <a:off x="6903720" y="2404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300"/>
          </a:p>
        </p:txBody>
      </p:sp>
      <p:sp>
        <p:nvSpPr>
          <p:cNvPr id="1203002757" name="Text 20"/>
          <p:cNvSpPr txBox="1"/>
          <p:nvPr/>
        </p:nvSpPr>
        <p:spPr bwMode="auto">
          <a:xfrm>
            <a:off x="7452360" y="228600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Pen | Tape driver</a:t>
            </a:r>
            <a:endParaRPr lang="en-US" sz="1300"/>
          </a:p>
        </p:txBody>
      </p:sp>
      <p:sp>
        <p:nvSpPr>
          <p:cNvPr id="1872235916" name="Shape 21"/>
          <p:cNvSpPr/>
          <p:nvPr/>
        </p:nvSpPr>
        <p:spPr bwMode="auto">
          <a:xfrm>
            <a:off x="7086600" y="2880360"/>
            <a:ext cx="0" cy="13716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62828113" name="Shape 22"/>
          <p:cNvSpPr/>
          <p:nvPr/>
        </p:nvSpPr>
        <p:spPr bwMode="auto">
          <a:xfrm>
            <a:off x="6720840" y="3017519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22708624" name="Shape 23"/>
          <p:cNvSpPr/>
          <p:nvPr/>
        </p:nvSpPr>
        <p:spPr bwMode="auto">
          <a:xfrm>
            <a:off x="6903720" y="3136392"/>
            <a:ext cx="365760" cy="36576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792190546" name="Text 24"/>
          <p:cNvSpPr txBox="1"/>
          <p:nvPr/>
        </p:nvSpPr>
        <p:spPr bwMode="auto">
          <a:xfrm>
            <a:off x="6903720" y="3136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300"/>
          </a:p>
        </p:txBody>
      </p:sp>
      <p:sp>
        <p:nvSpPr>
          <p:cNvPr id="824633533" name="Text 25"/>
          <p:cNvSpPr txBox="1"/>
          <p:nvPr/>
        </p:nvSpPr>
        <p:spPr bwMode="auto">
          <a:xfrm>
            <a:off x="7452360" y="3017519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Notebook | Disk</a:t>
            </a:r>
            <a:endParaRPr lang="en-US" sz="1300"/>
          </a:p>
        </p:txBody>
      </p:sp>
      <p:sp>
        <p:nvSpPr>
          <p:cNvPr id="1167194473" name="Shape 26"/>
          <p:cNvSpPr/>
          <p:nvPr/>
        </p:nvSpPr>
        <p:spPr bwMode="auto">
          <a:xfrm>
            <a:off x="7086600" y="3611880"/>
            <a:ext cx="0" cy="13716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846885808" name="Shape 27"/>
          <p:cNvSpPr/>
          <p:nvPr/>
        </p:nvSpPr>
        <p:spPr bwMode="auto">
          <a:xfrm>
            <a:off x="6720840" y="3749040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7560516" name="Shape 28"/>
          <p:cNvSpPr/>
          <p:nvPr/>
        </p:nvSpPr>
        <p:spPr bwMode="auto">
          <a:xfrm>
            <a:off x="6903720" y="3867911"/>
            <a:ext cx="365760" cy="36576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1089323495" name="Text 29"/>
          <p:cNvSpPr txBox="1"/>
          <p:nvPr/>
        </p:nvSpPr>
        <p:spPr bwMode="auto">
          <a:xfrm>
            <a:off x="6903720" y="38679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300"/>
          </a:p>
        </p:txBody>
      </p:sp>
      <p:sp>
        <p:nvSpPr>
          <p:cNvPr id="53514862" name="Text 30"/>
          <p:cNvSpPr txBox="1"/>
          <p:nvPr/>
        </p:nvSpPr>
        <p:spPr bwMode="auto">
          <a:xfrm>
            <a:off x="7452360" y="37490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Eraser | Printer</a:t>
            </a:r>
            <a:endParaRPr lang="en-US" sz="1300"/>
          </a:p>
        </p:txBody>
      </p:sp>
      <p:sp>
        <p:nvSpPr>
          <p:cNvPr id="805374374" name="Shape 31"/>
          <p:cNvSpPr/>
          <p:nvPr/>
        </p:nvSpPr>
        <p:spPr bwMode="auto">
          <a:xfrm>
            <a:off x="7086600" y="4343400"/>
            <a:ext cx="0" cy="13716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141771134" name="Shape 32"/>
          <p:cNvSpPr/>
          <p:nvPr/>
        </p:nvSpPr>
        <p:spPr bwMode="auto">
          <a:xfrm>
            <a:off x="6720840" y="4480560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04635602" name="Shape 33"/>
          <p:cNvSpPr/>
          <p:nvPr/>
        </p:nvSpPr>
        <p:spPr bwMode="auto">
          <a:xfrm>
            <a:off x="6903720" y="4599432"/>
            <a:ext cx="365760" cy="365760"/>
          </a:xfrm>
          <a:prstGeom prst="ellipse">
            <a:avLst/>
          </a:prstGeom>
          <a:solidFill>
            <a:srgbClr val="E8543E"/>
          </a:solidFill>
          <a:ln/>
        </p:spPr>
      </p:sp>
      <p:sp>
        <p:nvSpPr>
          <p:cNvPr id="774753105" name="Text 34"/>
          <p:cNvSpPr txBox="1"/>
          <p:nvPr/>
        </p:nvSpPr>
        <p:spPr bwMode="auto">
          <a:xfrm>
            <a:off x="6903720" y="45994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300"/>
          </a:p>
        </p:txBody>
      </p:sp>
      <p:sp>
        <p:nvSpPr>
          <p:cNvPr id="1342043510" name="Text 35"/>
          <p:cNvSpPr txBox="1"/>
          <p:nvPr/>
        </p:nvSpPr>
        <p:spPr bwMode="auto">
          <a:xfrm>
            <a:off x="7452360" y="448056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Ruler | Memory</a:t>
            </a:r>
            <a:endParaRPr lang="en-US" sz="1300"/>
          </a:p>
        </p:txBody>
      </p:sp>
      <p:sp>
        <p:nvSpPr>
          <p:cNvPr id="470363494" name="Text 36"/>
          <p:cNvSpPr txBox="1"/>
          <p:nvPr/>
        </p:nvSpPr>
        <p:spPr bwMode="auto">
          <a:xfrm>
            <a:off x="6720840" y="534924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  <a:defRPr/>
            </a:pPr>
            <a:r>
              <a:rPr lang="en-US" sz="115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If you're holding the Notebook (2), you may ask for the Eraser (3) — but never the Pen (1). So no loop can ever form!</a:t>
            </a:r>
            <a:endParaRPr lang="en-US" sz="11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7F8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8487504" name="Text 0"/>
          <p:cNvSpPr txBox="1"/>
          <p:nvPr/>
        </p:nvSpPr>
        <p:spPr bwMode="auto"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200" b="1">
                <a:solidFill>
                  <a:srgbClr val="1E2761"/>
                </a:solidFill>
                <a:latin typeface="Cambria"/>
                <a:ea typeface="Cambria"/>
                <a:cs typeface="Cambria"/>
              </a:rPr>
              <a:t>Comparing the Three Approaches</a:t>
            </a:r>
            <a:endParaRPr lang="en-US" sz="3200"/>
          </a:p>
        </p:txBody>
      </p:sp>
      <p:sp>
        <p:nvSpPr>
          <p:cNvPr id="894176109" name="Text 1"/>
          <p:cNvSpPr txBox="1"/>
          <p:nvPr/>
        </p:nvSpPr>
        <p:spPr bwMode="auto">
          <a:xfrm>
            <a:off x="640080" y="109728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Quick side-by-side: how safe each approach is, and how much it costs the system.</a:t>
            </a:r>
            <a:endParaRPr lang="en-US" sz="1400"/>
          </a:p>
        </p:txBody>
      </p:sp>
      <p:sp>
        <p:nvSpPr>
          <p:cNvPr id="1030493875" name="Shape 2"/>
          <p:cNvSpPr/>
          <p:nvPr/>
        </p:nvSpPr>
        <p:spPr bwMode="auto">
          <a:xfrm>
            <a:off x="640080" y="1783080"/>
            <a:ext cx="2651760" cy="566928"/>
          </a:xfrm>
          <a:prstGeom prst="rect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0419547" name="Text 3"/>
          <p:cNvSpPr txBox="1"/>
          <p:nvPr/>
        </p:nvSpPr>
        <p:spPr bwMode="auto">
          <a:xfrm>
            <a:off x="640080" y="1783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Approach</a:t>
            </a:r>
            <a:endParaRPr lang="en-US" sz="1250"/>
          </a:p>
        </p:txBody>
      </p:sp>
      <p:sp>
        <p:nvSpPr>
          <p:cNvPr id="422076641" name="Shape 4"/>
          <p:cNvSpPr/>
          <p:nvPr/>
        </p:nvSpPr>
        <p:spPr bwMode="auto">
          <a:xfrm>
            <a:off x="3291840" y="1783080"/>
            <a:ext cx="2651760" cy="566928"/>
          </a:xfrm>
          <a:prstGeom prst="rect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79898631" name="Text 5"/>
          <p:cNvSpPr txBox="1"/>
          <p:nvPr/>
        </p:nvSpPr>
        <p:spPr bwMode="auto">
          <a:xfrm>
            <a:off x="3291840" y="17830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Is Deadlock Possible?</a:t>
            </a:r>
            <a:endParaRPr lang="en-US" sz="1250"/>
          </a:p>
        </p:txBody>
      </p:sp>
      <p:sp>
        <p:nvSpPr>
          <p:cNvPr id="865972218" name="Shape 6"/>
          <p:cNvSpPr/>
          <p:nvPr/>
        </p:nvSpPr>
        <p:spPr bwMode="auto">
          <a:xfrm>
            <a:off x="5943600" y="1783080"/>
            <a:ext cx="2834640" cy="566928"/>
          </a:xfrm>
          <a:prstGeom prst="rect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68816545" name="Text 7"/>
          <p:cNvSpPr txBox="1"/>
          <p:nvPr/>
        </p:nvSpPr>
        <p:spPr bwMode="auto">
          <a:xfrm>
            <a:off x="5943600" y="1783080"/>
            <a:ext cx="2834640" cy="566928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How Well Resources Are Used</a:t>
            </a:r>
            <a:endParaRPr lang="en-US" sz="1250"/>
          </a:p>
        </p:txBody>
      </p:sp>
      <p:sp>
        <p:nvSpPr>
          <p:cNvPr id="167987681" name="Shape 8"/>
          <p:cNvSpPr/>
          <p:nvPr/>
        </p:nvSpPr>
        <p:spPr bwMode="auto">
          <a:xfrm>
            <a:off x="8778240" y="1783080"/>
            <a:ext cx="2743200" cy="566928"/>
          </a:xfrm>
          <a:prstGeom prst="rect">
            <a:avLst/>
          </a:prstGeom>
          <a:solidFill>
            <a:srgbClr val="1E276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7326121" name="Text 9"/>
          <p:cNvSpPr txBox="1"/>
          <p:nvPr/>
        </p:nvSpPr>
        <p:spPr bwMode="auto">
          <a:xfrm>
            <a:off x="8778240" y="17830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177800" rIns="0" bIns="0" rtlCol="0" anchor="ctr"/>
          <a:lstStyle/>
          <a:p>
            <a:pPr marL="0" indent="0" algn="l">
              <a:buNone/>
              <a:defRPr/>
            </a:pPr>
            <a:r>
              <a:rPr lang="en-US" sz="12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Extra Work For the System</a:t>
            </a:r>
            <a:endParaRPr lang="en-US" sz="1250"/>
          </a:p>
        </p:txBody>
      </p:sp>
      <p:sp>
        <p:nvSpPr>
          <p:cNvPr id="739371743" name="Shape 10"/>
          <p:cNvSpPr/>
          <p:nvPr/>
        </p:nvSpPr>
        <p:spPr bwMode="auto">
          <a:xfrm>
            <a:off x="640080" y="235000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693947271" name="Text 11"/>
          <p:cNvSpPr txBox="1"/>
          <p:nvPr/>
        </p:nvSpPr>
        <p:spPr bwMode="auto">
          <a:xfrm>
            <a:off x="640080" y="23500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Prevention</a:t>
            </a:r>
            <a:endParaRPr lang="en-US" sz="1200"/>
          </a:p>
        </p:txBody>
      </p:sp>
      <p:sp>
        <p:nvSpPr>
          <p:cNvPr id="1617707173" name="Shape 12"/>
          <p:cNvSpPr/>
          <p:nvPr/>
        </p:nvSpPr>
        <p:spPr bwMode="auto">
          <a:xfrm>
            <a:off x="3291840" y="2350008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03378222" name="Text 13"/>
          <p:cNvSpPr txBox="1"/>
          <p:nvPr/>
        </p:nvSpPr>
        <p:spPr bwMode="auto">
          <a:xfrm>
            <a:off x="3291840" y="2350008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Never — it's impossible</a:t>
            </a:r>
            <a:endParaRPr lang="en-US" sz="1200"/>
          </a:p>
        </p:txBody>
      </p:sp>
      <p:sp>
        <p:nvSpPr>
          <p:cNvPr id="1773024723" name="Shape 14"/>
          <p:cNvSpPr/>
          <p:nvPr/>
        </p:nvSpPr>
        <p:spPr bwMode="auto">
          <a:xfrm>
            <a:off x="5943600" y="2350008"/>
            <a:ext cx="2834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191827750" name="Text 15"/>
          <p:cNvSpPr txBox="1"/>
          <p:nvPr/>
        </p:nvSpPr>
        <p:spPr bwMode="auto">
          <a:xfrm>
            <a:off x="5943600" y="2350008"/>
            <a:ext cx="28346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Low — plays it too safe</a:t>
            </a:r>
            <a:endParaRPr lang="en-US" sz="1200"/>
          </a:p>
        </p:txBody>
      </p:sp>
      <p:sp>
        <p:nvSpPr>
          <p:cNvPr id="860303061" name="Shape 16"/>
          <p:cNvSpPr/>
          <p:nvPr/>
        </p:nvSpPr>
        <p:spPr bwMode="auto">
          <a:xfrm>
            <a:off x="8778240" y="2350008"/>
            <a:ext cx="2743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904383644" name="Text 17"/>
          <p:cNvSpPr txBox="1"/>
          <p:nvPr/>
        </p:nvSpPr>
        <p:spPr bwMode="auto">
          <a:xfrm>
            <a:off x="8778240" y="2350008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Low — rules are set in advance</a:t>
            </a:r>
            <a:endParaRPr lang="en-US" sz="1200"/>
          </a:p>
        </p:txBody>
      </p:sp>
      <p:sp>
        <p:nvSpPr>
          <p:cNvPr id="403508935" name="Shape 18"/>
          <p:cNvSpPr/>
          <p:nvPr/>
        </p:nvSpPr>
        <p:spPr bwMode="auto">
          <a:xfrm>
            <a:off x="640080" y="2916936"/>
            <a:ext cx="2651760" cy="566928"/>
          </a:xfrm>
          <a:prstGeom prst="rect">
            <a:avLst/>
          </a:prstGeom>
          <a:solidFill>
            <a:srgbClr val="EEF1FA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396644449" name="Text 19"/>
          <p:cNvSpPr txBox="1"/>
          <p:nvPr/>
        </p:nvSpPr>
        <p:spPr bwMode="auto">
          <a:xfrm>
            <a:off x="640080" y="2916936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Avoidance</a:t>
            </a:r>
            <a:endParaRPr lang="en-US" sz="1200"/>
          </a:p>
        </p:txBody>
      </p:sp>
      <p:sp>
        <p:nvSpPr>
          <p:cNvPr id="261382244" name="Shape 20"/>
          <p:cNvSpPr/>
          <p:nvPr/>
        </p:nvSpPr>
        <p:spPr bwMode="auto">
          <a:xfrm>
            <a:off x="3291840" y="2916936"/>
            <a:ext cx="2651760" cy="566928"/>
          </a:xfrm>
          <a:prstGeom prst="rect">
            <a:avLst/>
          </a:prstGeom>
          <a:solidFill>
            <a:srgbClr val="EEF1FA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750711791" name="Text 21"/>
          <p:cNvSpPr txBox="1"/>
          <p:nvPr/>
        </p:nvSpPr>
        <p:spPr bwMode="auto">
          <a:xfrm>
            <a:off x="3291840" y="2916936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Never — it's impossible</a:t>
            </a:r>
            <a:endParaRPr lang="en-US" sz="1200"/>
          </a:p>
        </p:txBody>
      </p:sp>
      <p:sp>
        <p:nvSpPr>
          <p:cNvPr id="163629999" name="Shape 22"/>
          <p:cNvSpPr/>
          <p:nvPr/>
        </p:nvSpPr>
        <p:spPr bwMode="auto">
          <a:xfrm>
            <a:off x="5943600" y="2916936"/>
            <a:ext cx="2834640" cy="566928"/>
          </a:xfrm>
          <a:prstGeom prst="rect">
            <a:avLst/>
          </a:prstGeom>
          <a:solidFill>
            <a:srgbClr val="EEF1FA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355555207" name="Text 23"/>
          <p:cNvSpPr txBox="1"/>
          <p:nvPr/>
        </p:nvSpPr>
        <p:spPr bwMode="auto">
          <a:xfrm>
            <a:off x="5943600" y="2916936"/>
            <a:ext cx="28346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Better — more flexible</a:t>
            </a:r>
            <a:endParaRPr lang="en-US" sz="1200"/>
          </a:p>
        </p:txBody>
      </p:sp>
      <p:sp>
        <p:nvSpPr>
          <p:cNvPr id="1749215481" name="Shape 24"/>
          <p:cNvSpPr/>
          <p:nvPr/>
        </p:nvSpPr>
        <p:spPr bwMode="auto">
          <a:xfrm>
            <a:off x="8778240" y="2916936"/>
            <a:ext cx="2743200" cy="566928"/>
          </a:xfrm>
          <a:prstGeom prst="rect">
            <a:avLst/>
          </a:prstGeom>
          <a:solidFill>
            <a:srgbClr val="EEF1FA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101590536" name="Text 25"/>
          <p:cNvSpPr txBox="1"/>
          <p:nvPr/>
        </p:nvSpPr>
        <p:spPr bwMode="auto">
          <a:xfrm>
            <a:off x="8778240" y="29169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Some — checks every request</a:t>
            </a:r>
            <a:endParaRPr lang="en-US" sz="1200"/>
          </a:p>
        </p:txBody>
      </p:sp>
      <p:sp>
        <p:nvSpPr>
          <p:cNvPr id="1385662680" name="Shape 26"/>
          <p:cNvSpPr/>
          <p:nvPr/>
        </p:nvSpPr>
        <p:spPr bwMode="auto">
          <a:xfrm>
            <a:off x="640080" y="34838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1617547715" name="Text 27"/>
          <p:cNvSpPr txBox="1"/>
          <p:nvPr/>
        </p:nvSpPr>
        <p:spPr bwMode="auto">
          <a:xfrm>
            <a:off x="640080" y="34838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 b="1">
                <a:solidFill>
                  <a:srgbClr val="1E2761"/>
                </a:solidFill>
                <a:latin typeface="Calibri"/>
                <a:ea typeface="Calibri"/>
                <a:cs typeface="Calibri"/>
              </a:rPr>
              <a:t>Detection &amp; Recovery</a:t>
            </a:r>
            <a:endParaRPr lang="en-US" sz="1200"/>
          </a:p>
        </p:txBody>
      </p:sp>
      <p:sp>
        <p:nvSpPr>
          <p:cNvPr id="1644954200" name="Shape 28"/>
          <p:cNvSpPr/>
          <p:nvPr/>
        </p:nvSpPr>
        <p:spPr bwMode="auto">
          <a:xfrm>
            <a:off x="3291840" y="3483864"/>
            <a:ext cx="26517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637976558" name="Text 29"/>
          <p:cNvSpPr txBox="1"/>
          <p:nvPr/>
        </p:nvSpPr>
        <p:spPr bwMode="auto">
          <a:xfrm>
            <a:off x="3291840" y="34838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Yes, but it's fixed after</a:t>
            </a:r>
            <a:endParaRPr lang="en-US" sz="1200"/>
          </a:p>
        </p:txBody>
      </p:sp>
      <p:sp>
        <p:nvSpPr>
          <p:cNvPr id="1977358973" name="Shape 30"/>
          <p:cNvSpPr/>
          <p:nvPr/>
        </p:nvSpPr>
        <p:spPr bwMode="auto">
          <a:xfrm>
            <a:off x="5943600" y="3483864"/>
            <a:ext cx="2834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768925464" name="Text 31"/>
          <p:cNvSpPr txBox="1"/>
          <p:nvPr/>
        </p:nvSpPr>
        <p:spPr bwMode="auto">
          <a:xfrm>
            <a:off x="5943600" y="3483864"/>
            <a:ext cx="283464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Best — no restrictions at all</a:t>
            </a:r>
            <a:endParaRPr lang="en-US" sz="1200"/>
          </a:p>
        </p:txBody>
      </p:sp>
      <p:sp>
        <p:nvSpPr>
          <p:cNvPr id="945197816" name="Shape 32"/>
          <p:cNvSpPr/>
          <p:nvPr/>
        </p:nvSpPr>
        <p:spPr bwMode="auto">
          <a:xfrm>
            <a:off x="8778240" y="3483864"/>
            <a:ext cx="2743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FE3F2"/>
            </a:solidFill>
            <a:prstDash val="solid"/>
          </a:ln>
        </p:spPr>
      </p:sp>
      <p:sp>
        <p:nvSpPr>
          <p:cNvPr id="377507648" name="Text 33"/>
          <p:cNvSpPr txBox="1"/>
          <p:nvPr/>
        </p:nvSpPr>
        <p:spPr bwMode="auto">
          <a:xfrm>
            <a:off x="8778240" y="3483864"/>
            <a:ext cx="2743200" cy="566928"/>
          </a:xfrm>
          <a:prstGeom prst="rect">
            <a:avLst/>
          </a:prstGeom>
          <a:noFill/>
          <a:ln/>
        </p:spPr>
        <p:txBody>
          <a:bodyPr wrap="square" lIns="0" tIns="15240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rgbClr val="1B1F3B"/>
                </a:solidFill>
                <a:latin typeface="Calibri"/>
                <a:ea typeface="Calibri"/>
                <a:cs typeface="Calibri"/>
              </a:rPr>
              <a:t>Only when fixing a deadlock</a:t>
            </a:r>
            <a:endParaRPr lang="en-US" sz="1200"/>
          </a:p>
        </p:txBody>
      </p:sp>
      <p:sp>
        <p:nvSpPr>
          <p:cNvPr id="834445657" name="Text 34"/>
          <p:cNvSpPr txBox="1"/>
          <p:nvPr/>
        </p:nvSpPr>
        <p:spPr bwMode="auto">
          <a:xfrm>
            <a:off x="640080" y="43708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 i="1">
                <a:solidFill>
                  <a:srgbClr val="5B6270"/>
                </a:solidFill>
                <a:latin typeface="Calibri"/>
                <a:ea typeface="Calibri"/>
                <a:cs typeface="Calibri"/>
              </a:rPr>
              <a:t>In short: Prevention is the safest but most careful choice — it never lets a deadlock happen, even if that means being a little wasteful.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:blinds dir="horz"/>
      </p:transition>
    </mc:Choice>
    <mc:Fallback>
      <p:transition spd="slow" advClick="1">
        <p:blinds dir="horz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1E276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842538" name="Shape 0"/>
          <p:cNvSpPr/>
          <p:nvPr/>
        </p:nvSpPr>
        <p:spPr bwMode="auto">
          <a:xfrm>
            <a:off x="-1463040" y="-1645920"/>
            <a:ext cx="4114800" cy="4114800"/>
          </a:xfrm>
          <a:prstGeom prst="ellipse">
            <a:avLst/>
          </a:prstGeom>
          <a:solidFill>
            <a:srgbClr val="26317A"/>
          </a:solidFill>
          <a:ln/>
        </p:spPr>
      </p:sp>
      <p:sp>
        <p:nvSpPr>
          <p:cNvPr id="373908085" name="Text 1"/>
          <p:cNvSpPr txBox="1"/>
          <p:nvPr/>
        </p:nvSpPr>
        <p:spPr bwMode="auto">
          <a:xfrm>
            <a:off x="822960" y="640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3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Key Takeaways</a:t>
            </a:r>
            <a:endParaRPr lang="en-US" sz="3400"/>
          </a:p>
        </p:txBody>
      </p:sp>
      <p:sp>
        <p:nvSpPr>
          <p:cNvPr id="692097110" name="Shape 2"/>
          <p:cNvSpPr/>
          <p:nvPr/>
        </p:nvSpPr>
        <p:spPr bwMode="auto">
          <a:xfrm>
            <a:off x="868680" y="1417320"/>
            <a:ext cx="1280160" cy="0"/>
          </a:xfrm>
          <a:prstGeom prst="line">
            <a:avLst/>
          </a:prstGeom>
          <a:noFill/>
          <a:ln w="38100">
            <a:solidFill>
              <a:srgbClr val="E8543E"/>
            </a:solidFill>
            <a:prstDash val="solid"/>
          </a:ln>
        </p:spPr>
      </p:sp>
      <p:sp>
        <p:nvSpPr>
          <p:cNvPr id="1408738721" name="Shape 3"/>
          <p:cNvSpPr/>
          <p:nvPr/>
        </p:nvSpPr>
        <p:spPr bwMode="auto">
          <a:xfrm>
            <a:off x="822960" y="18745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543E"/>
          </a:solidFill>
          <a:ln/>
        </p:spPr>
      </p:sp>
      <p:sp>
        <p:nvSpPr>
          <p:cNvPr id="646977063" name="Text 4"/>
          <p:cNvSpPr txBox="1"/>
          <p:nvPr/>
        </p:nvSpPr>
        <p:spPr bwMode="auto">
          <a:xfrm>
            <a:off x="82296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lang="en-US" sz="1600"/>
          </a:p>
        </p:txBody>
      </p:sp>
      <p:sp>
        <p:nvSpPr>
          <p:cNvPr id="507511053" name="Text 5"/>
          <p:cNvSpPr txBox="1"/>
          <p:nvPr/>
        </p:nvSpPr>
        <p:spPr bwMode="auto">
          <a:xfrm>
            <a:off x="1463040" y="18288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Deadlock = everyone waiting on someone else, forever. Think Hari and Thameem stuck with the Pen and Ruler.</a:t>
            </a:r>
            <a:endParaRPr lang="en-US" sz="1450"/>
          </a:p>
        </p:txBody>
      </p:sp>
      <p:sp>
        <p:nvSpPr>
          <p:cNvPr id="119010872" name="Shape 6"/>
          <p:cNvSpPr/>
          <p:nvPr/>
        </p:nvSpPr>
        <p:spPr bwMode="auto">
          <a:xfrm>
            <a:off x="822960" y="29260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543E"/>
          </a:solidFill>
          <a:ln/>
        </p:spPr>
      </p:sp>
      <p:sp>
        <p:nvSpPr>
          <p:cNvPr id="809322846" name="Text 7"/>
          <p:cNvSpPr txBox="1"/>
          <p:nvPr/>
        </p:nvSpPr>
        <p:spPr bwMode="auto">
          <a:xfrm>
            <a:off x="82296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lang="en-US" sz="1600"/>
          </a:p>
        </p:txBody>
      </p:sp>
      <p:sp>
        <p:nvSpPr>
          <p:cNvPr id="1722039223" name="Text 8"/>
          <p:cNvSpPr txBox="1"/>
          <p:nvPr/>
        </p:nvSpPr>
        <p:spPr bwMode="auto">
          <a:xfrm>
            <a:off x="1463040" y="288036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It only happens when all 4 conditions are true together: mutual exclusion, hold-and-wait, no preemption, and circular wait.</a:t>
            </a:r>
            <a:endParaRPr lang="en-US" sz="1450"/>
          </a:p>
        </p:txBody>
      </p:sp>
      <p:sp>
        <p:nvSpPr>
          <p:cNvPr id="295114696" name="Shape 9"/>
          <p:cNvSpPr/>
          <p:nvPr/>
        </p:nvSpPr>
        <p:spPr bwMode="auto">
          <a:xfrm>
            <a:off x="822960" y="39776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543E"/>
          </a:solidFill>
          <a:ln/>
        </p:spPr>
      </p:sp>
      <p:sp>
        <p:nvSpPr>
          <p:cNvPr id="1988523933" name="Text 10"/>
          <p:cNvSpPr txBox="1"/>
          <p:nvPr/>
        </p:nvSpPr>
        <p:spPr bwMode="auto">
          <a:xfrm>
            <a:off x="8229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lang="en-US" sz="1600"/>
          </a:p>
        </p:txBody>
      </p:sp>
      <p:sp>
        <p:nvSpPr>
          <p:cNvPr id="415958074" name="Text 11"/>
          <p:cNvSpPr txBox="1"/>
          <p:nvPr/>
        </p:nvSpPr>
        <p:spPr bwMode="auto">
          <a:xfrm>
            <a:off x="1463040" y="39319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Prevention works by breaking just ONE condition — then deadlock simply can't happen.</a:t>
            </a:r>
            <a:endParaRPr lang="en-US" sz="1450"/>
          </a:p>
        </p:txBody>
      </p:sp>
      <p:sp>
        <p:nvSpPr>
          <p:cNvPr id="915831536" name="Shape 12"/>
          <p:cNvSpPr/>
          <p:nvPr/>
        </p:nvSpPr>
        <p:spPr bwMode="auto">
          <a:xfrm>
            <a:off x="822960" y="50292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8543E"/>
          </a:solidFill>
          <a:ln/>
        </p:spPr>
      </p:sp>
      <p:sp>
        <p:nvSpPr>
          <p:cNvPr id="1858118891" name="Text 13"/>
          <p:cNvSpPr txBox="1"/>
          <p:nvPr/>
        </p:nvSpPr>
        <p:spPr bwMode="auto">
          <a:xfrm>
            <a:off x="82296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  <a:endParaRPr lang="en-US" sz="1600"/>
          </a:p>
        </p:txBody>
      </p:sp>
      <p:sp>
        <p:nvSpPr>
          <p:cNvPr id="1969822416" name="Text 14"/>
          <p:cNvSpPr txBox="1"/>
          <p:nvPr/>
        </p:nvSpPr>
        <p:spPr bwMode="auto">
          <a:xfrm>
            <a:off x="1463040" y="498348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  <a:defRPr/>
            </a:pPr>
            <a:r>
              <a:rPr lang="en-US" sz="1450">
                <a:solidFill>
                  <a:srgbClr val="CADCFC"/>
                </a:solidFill>
                <a:latin typeface="Calibri"/>
                <a:ea typeface="Calibri"/>
                <a:cs typeface="Calibri"/>
              </a:rPr>
              <a:t>The easiest fix in real systems? Give every resource a number and request them in order — that kills circular wait.</a:t>
            </a:r>
            <a:endParaRPr lang="en-US" sz="1450"/>
          </a:p>
        </p:txBody>
      </p:sp>
      <p:sp>
        <p:nvSpPr>
          <p:cNvPr id="604856259" name="Text 15"/>
          <p:cNvSpPr txBox="1"/>
          <p:nvPr/>
        </p:nvSpPr>
        <p:spPr bwMode="auto">
          <a:xfrm>
            <a:off x="822960" y="6263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800" i="1">
                <a:solidFill>
                  <a:srgbClr val="AEB9E8"/>
                </a:solidFill>
                <a:latin typeface="Cambria"/>
                <a:ea typeface="Cambria"/>
                <a:cs typeface="Cambria"/>
              </a:rPr>
              <a:t>Thank you</a:t>
            </a:r>
            <a:endParaRPr lang="en-US" sz="18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500" advClick="1">
        <p:wipe dir="r"/>
      </p:transition>
    </mc:Choice>
    <mc:Fallback>
      <p:transition spd="slow" advClick="1">
        <p:wipe dir="r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77025938" name="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 rotWithShape="1">
          <a:blip r:embed="rId3"/>
          <a:stretch/>
        </p:blipFill>
        <p:spPr bwMode="auto">
          <a:xfrm flipH="0" flipV="0">
            <a:off x="303249" y="300748"/>
            <a:ext cx="11509374" cy="62320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0"/>
    </mc:Choice>
    <mc:Fallback>
      <p:transition advClick="0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/>
  <cp:revision>4</cp:revision>
  <dcterms:created xsi:type="dcterms:W3CDTF">2026-09-20T08:07:59Z</dcterms:created>
  <dcterms:modified xsi:type="dcterms:W3CDTF">2026-09-20T09:24:15Z</dcterms:modified>
</cp:coreProperties>
</file>