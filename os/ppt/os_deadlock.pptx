
<file path=[Content_Types].xml><?xml version="1.0" encoding="utf-8"?>
<Types xmlns="http://schemas.openxmlformats.org/package/2006/content-types">
  <Default Extension="xml" ContentType="application/xml"/>
  <Default Extension="webm" ContentType="video/webm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4454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31378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31823391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0617084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847780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9511029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645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4549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7352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699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7263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39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8489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0520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548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7679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0258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90647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8899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8339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643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089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3281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7352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9855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108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646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461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2374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127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7430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1660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52947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607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7500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9631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C2467B-054E-C13F-3087-9B00E49AF3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microsoft.com/office/2007/relationships/media" Target="../media/media1.webm"/><Relationship Id="rId5" Type="http://schemas.openxmlformats.org/officeDocument/2006/relationships/video" Target="../media/media1.webm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50512" name="Shape 0"/>
          <p:cNvSpPr/>
          <p:nvPr/>
        </p:nvSpPr>
        <p:spPr bwMode="auto">
          <a:xfrm>
            <a:off x="969264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1605303057" name="Shape 1"/>
          <p:cNvSpPr/>
          <p:nvPr/>
        </p:nvSpPr>
        <p:spPr bwMode="auto">
          <a:xfrm>
            <a:off x="10607040" y="4206240"/>
            <a:ext cx="2743200" cy="27432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1910076567" name="Shape 2"/>
          <p:cNvSpPr/>
          <p:nvPr/>
        </p:nvSpPr>
        <p:spPr bwMode="auto">
          <a:xfrm>
            <a:off x="9857232" y="530352"/>
            <a:ext cx="402336" cy="402336"/>
          </a:xfrm>
          <a:prstGeom prst="ellipse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5707702" name="Shape 3"/>
          <p:cNvSpPr/>
          <p:nvPr/>
        </p:nvSpPr>
        <p:spPr bwMode="auto">
          <a:xfrm>
            <a:off x="10543032" y="1216151"/>
            <a:ext cx="402336" cy="402336"/>
          </a:xfrm>
          <a:prstGeom prst="ellipse">
            <a:avLst/>
          </a:prstGeom>
          <a:solidFill>
            <a:srgbClr val="E854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90835905" name="Shape 4"/>
          <p:cNvSpPr/>
          <p:nvPr/>
        </p:nvSpPr>
        <p:spPr bwMode="auto">
          <a:xfrm>
            <a:off x="9857232" y="1901952"/>
            <a:ext cx="402336" cy="402336"/>
          </a:xfrm>
          <a:prstGeom prst="ellipse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85535069" name="Shape 5"/>
          <p:cNvSpPr/>
          <p:nvPr/>
        </p:nvSpPr>
        <p:spPr bwMode="auto">
          <a:xfrm>
            <a:off x="9171432" y="1216151"/>
            <a:ext cx="402336" cy="402336"/>
          </a:xfrm>
          <a:prstGeom prst="ellipse">
            <a:avLst/>
          </a:prstGeom>
          <a:solidFill>
            <a:srgbClr val="E854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58969554" name="Text 6"/>
          <p:cNvSpPr txBox="1"/>
          <p:nvPr/>
        </p:nvSpPr>
        <p:spPr bwMode="auto"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OPERATING SYSTEMS</a:t>
            </a:r>
            <a:endParaRPr lang="en-US" sz="1400"/>
          </a:p>
        </p:txBody>
      </p:sp>
      <p:sp>
        <p:nvSpPr>
          <p:cNvPr id="262372414" name="Text 7"/>
          <p:cNvSpPr txBox="1"/>
          <p:nvPr/>
        </p:nvSpPr>
        <p:spPr bwMode="auto">
          <a:xfrm>
            <a:off x="777240" y="23317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6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Deadlock</a:t>
            </a:r>
            <a:endParaRPr lang="en-US" sz="6000"/>
          </a:p>
        </p:txBody>
      </p:sp>
      <p:sp>
        <p:nvSpPr>
          <p:cNvPr id="308796463" name="Text 8"/>
          <p:cNvSpPr txBox="1"/>
          <p:nvPr/>
        </p:nvSpPr>
        <p:spPr bwMode="auto"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It Is &amp; How to Stop It — With Everyday Examples</a:t>
            </a:r>
            <a:endParaRPr lang="en-US" sz="2000"/>
          </a:p>
        </p:txBody>
      </p:sp>
      <p:sp>
        <p:nvSpPr>
          <p:cNvPr id="1835839423" name="Shape 9"/>
          <p:cNvSpPr/>
          <p:nvPr/>
        </p:nvSpPr>
        <p:spPr bwMode="auto">
          <a:xfrm>
            <a:off x="822960" y="4160519"/>
            <a:ext cx="1280160" cy="0"/>
          </a:xfrm>
          <a:prstGeom prst="line">
            <a:avLst/>
          </a:prstGeom>
          <a:noFill/>
          <a:ln w="38100">
            <a:solidFill>
              <a:srgbClr val="E8543E"/>
            </a:solidFill>
            <a:prstDash val="solid"/>
          </a:ln>
        </p:spPr>
      </p:sp>
      <p:sp>
        <p:nvSpPr>
          <p:cNvPr id="632109011" name="Text 10"/>
          <p:cNvSpPr txBox="1"/>
          <p:nvPr/>
        </p:nvSpPr>
        <p:spPr bwMode="auto">
          <a:xfrm>
            <a:off x="822960" y="4389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AEB9E8"/>
                </a:solidFill>
                <a:latin typeface="Calibri"/>
                <a:ea typeface="Calibri"/>
                <a:cs typeface="Calibri"/>
              </a:rPr>
              <a:t>When two programs get stuck waiting for each other forever — like two people</a:t>
            </a:r>
            <a:endParaRPr lang="en-US" sz="1300"/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AEB9E8"/>
                </a:solidFill>
                <a:latin typeface="Calibri"/>
                <a:ea typeface="Calibri"/>
                <a:cs typeface="Calibri"/>
              </a:rPr>
              <a:t>each waiting for the other to move first. Here's why it happens and how to fix it.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108277" name="Text 0"/>
          <p:cNvSpPr txBox="1"/>
          <p:nvPr/>
        </p:nvSpPr>
        <p:spPr bwMode="auto"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Is a Deadlock?</a:t>
            </a:r>
            <a:endParaRPr lang="en-US" sz="3200"/>
          </a:p>
        </p:txBody>
      </p:sp>
      <p:sp>
        <p:nvSpPr>
          <p:cNvPr id="2046421588" name="Text 1"/>
          <p:cNvSpPr txBox="1"/>
          <p:nvPr/>
        </p:nvSpPr>
        <p:spPr bwMode="auto">
          <a:xfrm>
            <a:off x="640080" y="11430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45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In simple words: a deadlock is when two (or more) programs each hold something the other needs, and both just wait forever. No one gives up what they have, so nothing ever happens.</a:t>
            </a:r>
            <a:endParaRPr lang="en-US" sz="1450"/>
          </a:p>
        </p:txBody>
      </p:sp>
      <p:sp>
        <p:nvSpPr>
          <p:cNvPr id="1539292807" name="Shape 2"/>
          <p:cNvSpPr/>
          <p:nvPr/>
        </p:nvSpPr>
        <p:spPr bwMode="auto">
          <a:xfrm>
            <a:off x="640080" y="2569464"/>
            <a:ext cx="91440" cy="9144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801512336" name="Text 3"/>
          <p:cNvSpPr txBox="1"/>
          <p:nvPr/>
        </p:nvSpPr>
        <p:spPr bwMode="auto">
          <a:xfrm>
            <a:off x="896112" y="23865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Every program in the group is stuck waiting</a:t>
            </a:r>
            <a:endParaRPr lang="en-US" sz="1350"/>
          </a:p>
        </p:txBody>
      </p:sp>
      <p:sp>
        <p:nvSpPr>
          <p:cNvPr id="202115217" name="Shape 4"/>
          <p:cNvSpPr/>
          <p:nvPr/>
        </p:nvSpPr>
        <p:spPr bwMode="auto">
          <a:xfrm>
            <a:off x="640080" y="3072384"/>
            <a:ext cx="91440" cy="9144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174466399" name="Text 5"/>
          <p:cNvSpPr txBox="1"/>
          <p:nvPr/>
        </p:nvSpPr>
        <p:spPr bwMode="auto">
          <a:xfrm>
            <a:off x="896112" y="28895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No one lets go of what they're already holding</a:t>
            </a:r>
            <a:endParaRPr lang="en-US" sz="1350"/>
          </a:p>
        </p:txBody>
      </p:sp>
      <p:sp>
        <p:nvSpPr>
          <p:cNvPr id="2047484603" name="Shape 6"/>
          <p:cNvSpPr/>
          <p:nvPr/>
        </p:nvSpPr>
        <p:spPr bwMode="auto">
          <a:xfrm>
            <a:off x="640080" y="3575303"/>
            <a:ext cx="91440" cy="9144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53410564" name="Text 7"/>
          <p:cNvSpPr txBox="1"/>
          <p:nvPr/>
        </p:nvSpPr>
        <p:spPr bwMode="auto">
          <a:xfrm>
            <a:off x="896112" y="33924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Nothing outside can wake them up</a:t>
            </a:r>
            <a:endParaRPr lang="en-US" sz="1350"/>
          </a:p>
        </p:txBody>
      </p:sp>
      <p:sp>
        <p:nvSpPr>
          <p:cNvPr id="109102338" name="Shape 8"/>
          <p:cNvSpPr/>
          <p:nvPr/>
        </p:nvSpPr>
        <p:spPr bwMode="auto">
          <a:xfrm>
            <a:off x="640080" y="4078224"/>
            <a:ext cx="91440" cy="9144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149503539" name="Text 9"/>
          <p:cNvSpPr txBox="1"/>
          <p:nvPr/>
        </p:nvSpPr>
        <p:spPr bwMode="auto">
          <a:xfrm>
            <a:off x="896112" y="3895343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The whole group is frozen — forever</a:t>
            </a:r>
            <a:endParaRPr lang="en-US" sz="1350"/>
          </a:p>
        </p:txBody>
      </p:sp>
      <p:sp>
        <p:nvSpPr>
          <p:cNvPr id="1978967106" name="Shape 10"/>
          <p:cNvSpPr/>
          <p:nvPr/>
        </p:nvSpPr>
        <p:spPr bwMode="auto">
          <a:xfrm>
            <a:off x="640080" y="46634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BEAE7"/>
          </a:solidFill>
          <a:ln w="12700">
            <a:solidFill>
              <a:srgbClr val="E8543E"/>
            </a:solidFill>
            <a:prstDash val="solid"/>
          </a:ln>
        </p:spPr>
      </p:sp>
      <p:sp>
        <p:nvSpPr>
          <p:cNvPr id="1069298901" name="Text 11"/>
          <p:cNvSpPr txBox="1"/>
          <p:nvPr/>
        </p:nvSpPr>
        <p:spPr bwMode="auto">
          <a:xfrm>
            <a:off x="868680" y="4828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E8543E"/>
                </a:solidFill>
                <a:latin typeface="Calibri"/>
                <a:ea typeface="Calibri"/>
                <a:cs typeface="Calibri"/>
              </a:rPr>
              <a:t>REAL-LIFE EXAMPLE</a:t>
            </a:r>
            <a:endParaRPr lang="en-US" sz="1100"/>
          </a:p>
        </p:txBody>
      </p:sp>
      <p:sp>
        <p:nvSpPr>
          <p:cNvPr id="1697105809" name="Text 12"/>
          <p:cNvSpPr txBox="1"/>
          <p:nvPr/>
        </p:nvSpPr>
        <p:spPr bwMode="auto">
          <a:xfrm>
            <a:off x="868680" y="513892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Hari is holding a Pen and needs a Notebook. Thameem is holding the Ruler and needs the Pen. Neither will let go first — so both just sit there waiting. That's a deadlock!</a:t>
            </a:r>
            <a:endParaRPr lang="en-US" sz="1250"/>
          </a:p>
        </p:txBody>
      </p:sp>
      <p:sp>
        <p:nvSpPr>
          <p:cNvPr id="758169967" name="Shape 13"/>
          <p:cNvSpPr/>
          <p:nvPr/>
        </p:nvSpPr>
        <p:spPr bwMode="auto">
          <a:xfrm>
            <a:off x="7360920" y="1417320"/>
            <a:ext cx="1143000" cy="11430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81713323" name="Text 14"/>
          <p:cNvSpPr txBox="1"/>
          <p:nvPr/>
        </p:nvSpPr>
        <p:spPr bwMode="auto">
          <a:xfrm>
            <a:off x="7360920" y="14173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Hari</a:t>
            </a:r>
            <a:endParaRPr lang="en-US" sz="1500"/>
          </a:p>
        </p:txBody>
      </p:sp>
      <p:sp>
        <p:nvSpPr>
          <p:cNvPr id="2053921654" name="Shape 15"/>
          <p:cNvSpPr/>
          <p:nvPr/>
        </p:nvSpPr>
        <p:spPr bwMode="auto">
          <a:xfrm>
            <a:off x="9464040" y="15544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E854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20650768" name="Text 16"/>
          <p:cNvSpPr txBox="1"/>
          <p:nvPr/>
        </p:nvSpPr>
        <p:spPr bwMode="auto">
          <a:xfrm>
            <a:off x="9464040" y="15544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Ruler</a:t>
            </a:r>
            <a:endParaRPr lang="en-US" sz="1300"/>
          </a:p>
        </p:txBody>
      </p:sp>
      <p:sp>
        <p:nvSpPr>
          <p:cNvPr id="519517215" name="Shape 17"/>
          <p:cNvSpPr/>
          <p:nvPr/>
        </p:nvSpPr>
        <p:spPr bwMode="auto">
          <a:xfrm>
            <a:off x="9692640" y="3977640"/>
            <a:ext cx="1143000" cy="11430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11337777" name="Text 18"/>
          <p:cNvSpPr txBox="1"/>
          <p:nvPr/>
        </p:nvSpPr>
        <p:spPr bwMode="auto">
          <a:xfrm>
            <a:off x="9692640" y="3977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Thameem</a:t>
            </a:r>
            <a:endParaRPr lang="en-US" sz="1500"/>
          </a:p>
        </p:txBody>
      </p:sp>
      <p:sp>
        <p:nvSpPr>
          <p:cNvPr id="1767494243" name="Shape 19"/>
          <p:cNvSpPr/>
          <p:nvPr/>
        </p:nvSpPr>
        <p:spPr bwMode="auto">
          <a:xfrm>
            <a:off x="7086600" y="411480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E854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5039991" name="Text 20"/>
          <p:cNvSpPr txBox="1"/>
          <p:nvPr/>
        </p:nvSpPr>
        <p:spPr bwMode="auto">
          <a:xfrm>
            <a:off x="7086600" y="41148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Pen</a:t>
            </a:r>
            <a:endParaRPr lang="en-US" sz="1300"/>
          </a:p>
        </p:txBody>
      </p:sp>
      <p:sp>
        <p:nvSpPr>
          <p:cNvPr id="2052415595" name="Shape 21"/>
          <p:cNvSpPr/>
          <p:nvPr/>
        </p:nvSpPr>
        <p:spPr bwMode="auto">
          <a:xfrm flipH="0" flipV="0">
            <a:off x="8503919" y="1988820"/>
            <a:ext cx="777240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  <a:tailEnd type="triangle"/>
          </a:ln>
        </p:spPr>
      </p:sp>
      <p:sp>
        <p:nvSpPr>
          <p:cNvPr id="494388892" name="Shape 22"/>
          <p:cNvSpPr/>
          <p:nvPr/>
        </p:nvSpPr>
        <p:spPr bwMode="auto">
          <a:xfrm>
            <a:off x="10401300" y="2423160"/>
            <a:ext cx="0" cy="155448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  <a:tailEnd type="triangle"/>
          </a:ln>
        </p:spPr>
      </p:sp>
      <p:sp>
        <p:nvSpPr>
          <p:cNvPr id="843018499" name="Shape 23"/>
          <p:cNvSpPr/>
          <p:nvPr/>
        </p:nvSpPr>
        <p:spPr bwMode="auto">
          <a:xfrm>
            <a:off x="9692640" y="4549140"/>
            <a:ext cx="0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  <a:tailEnd type="triangle"/>
          </a:ln>
        </p:spPr>
      </p:sp>
      <p:sp>
        <p:nvSpPr>
          <p:cNvPr id="1840610921" name="Shape 24"/>
          <p:cNvSpPr/>
          <p:nvPr/>
        </p:nvSpPr>
        <p:spPr bwMode="auto">
          <a:xfrm>
            <a:off x="8001000" y="4114800"/>
            <a:ext cx="0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  <a:tailEnd type="triangle"/>
          </a:ln>
        </p:spPr>
      </p:sp>
      <p:sp>
        <p:nvSpPr>
          <p:cNvPr id="1961735031" name="Text 25"/>
          <p:cNvSpPr txBox="1"/>
          <p:nvPr/>
        </p:nvSpPr>
        <p:spPr bwMode="auto">
          <a:xfrm>
            <a:off x="6858000" y="5257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i="1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Hari wants the Ruler (held by Thameem) · Thameem wants the Pen (held by Hari)</a:t>
            </a:r>
            <a:endParaRPr lang="en-US" sz="1150"/>
          </a:p>
        </p:txBody>
      </p:sp>
      <p:sp>
        <p:nvSpPr>
          <p:cNvPr id="1655851969" name="Shape 21"/>
          <p:cNvSpPr/>
          <p:nvPr/>
        </p:nvSpPr>
        <p:spPr bwMode="auto">
          <a:xfrm flipH="0" flipV="1">
            <a:off x="7932420" y="2569463"/>
            <a:ext cx="0" cy="155448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  <a:tailEnd type="triangle"/>
          </a:ln>
        </p:spPr>
      </p:sp>
      <p:sp>
        <p:nvSpPr>
          <p:cNvPr id="345616484" name=""/>
          <p:cNvSpPr txBox="1"/>
          <p:nvPr/>
        </p:nvSpPr>
        <p:spPr bwMode="auto">
          <a:xfrm rot="0" flipH="0" flipV="0">
            <a:off x="8503919" y="1915583"/>
            <a:ext cx="100053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request</a:t>
            </a:r>
            <a:endParaRPr/>
          </a:p>
        </p:txBody>
      </p:sp>
      <p:sp>
        <p:nvSpPr>
          <p:cNvPr id="847374126" name=""/>
          <p:cNvSpPr txBox="1"/>
          <p:nvPr/>
        </p:nvSpPr>
        <p:spPr bwMode="auto">
          <a:xfrm rot="10800000" flipH="0" flipV="0">
            <a:off x="7543440" y="2969999"/>
            <a:ext cx="457560" cy="918000"/>
          </a:xfrm>
          <a:prstGeom prst="rect">
            <a:avLst/>
          </a:prstGeom>
          <a:noFill/>
        </p:spPr>
        <p:txBody>
          <a:bodyPr vertOverflow="overflow" horzOverflow="overflow" vert="vert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hold</a:t>
            </a:r>
            <a:endParaRPr/>
          </a:p>
        </p:txBody>
      </p:sp>
      <p:sp>
        <p:nvSpPr>
          <p:cNvPr id="1130667829" name=""/>
          <p:cNvSpPr txBox="1"/>
          <p:nvPr/>
        </p:nvSpPr>
        <p:spPr bwMode="auto">
          <a:xfrm rot="0" flipH="0" flipV="0">
            <a:off x="10401300" y="2795903"/>
            <a:ext cx="457560" cy="918720"/>
          </a:xfrm>
          <a:prstGeom prst="rect">
            <a:avLst/>
          </a:prstGeom>
          <a:noFill/>
        </p:spPr>
        <p:txBody>
          <a:bodyPr vertOverflow="overflow" horzOverflow="overflow" vert="vert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hold</a:t>
            </a:r>
            <a:endParaRPr/>
          </a:p>
        </p:txBody>
      </p:sp>
      <p:sp>
        <p:nvSpPr>
          <p:cNvPr id="2034196335" name="Shape 21"/>
          <p:cNvSpPr/>
          <p:nvPr/>
        </p:nvSpPr>
        <p:spPr bwMode="auto">
          <a:xfrm flipH="1" flipV="0">
            <a:off x="9033510" y="4549140"/>
            <a:ext cx="856113" cy="0"/>
          </a:xfrm>
          <a:prstGeom prst="line">
            <a:avLst/>
          </a:prstGeom>
          <a:noFill/>
          <a:ln w="25400">
            <a:solidFill>
              <a:srgbClr val="1B1F3B"/>
            </a:solidFill>
            <a:prstDash val="solid"/>
            <a:tailEnd type="triangle"/>
          </a:ln>
        </p:spPr>
      </p:sp>
      <p:sp>
        <p:nvSpPr>
          <p:cNvPr id="1949514405" name=""/>
          <p:cNvSpPr txBox="1"/>
          <p:nvPr/>
        </p:nvSpPr>
        <p:spPr bwMode="auto">
          <a:xfrm rot="0" flipH="0" flipV="0">
            <a:off x="8961120" y="4078404"/>
            <a:ext cx="100089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request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29750" name="Text 0"/>
          <p:cNvSpPr txBox="1"/>
          <p:nvPr/>
        </p:nvSpPr>
        <p:spPr bwMode="auto"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Four Necessary Conditions</a:t>
            </a:r>
            <a:endParaRPr lang="en-US" sz="3200"/>
          </a:p>
        </p:txBody>
      </p:sp>
      <p:sp>
        <p:nvSpPr>
          <p:cNvPr id="40425316" name="Text 1"/>
          <p:cNvSpPr txBox="1"/>
          <p:nvPr/>
        </p:nvSpPr>
        <p:spPr bwMode="auto"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All four of these must be true at the Thameeme time for a deadlock to happen.</a:t>
            </a:r>
            <a:endParaRPr lang="en-US" sz="1400"/>
          </a:p>
        </p:txBody>
      </p:sp>
      <p:sp>
        <p:nvSpPr>
          <p:cNvPr id="1219757564" name="Shape 2"/>
          <p:cNvSpPr/>
          <p:nvPr/>
        </p:nvSpPr>
        <p:spPr bwMode="auto">
          <a:xfrm>
            <a:off x="640080" y="1737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648158568" name="Shape 3"/>
          <p:cNvSpPr/>
          <p:nvPr/>
        </p:nvSpPr>
        <p:spPr bwMode="auto">
          <a:xfrm>
            <a:off x="91440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02738807" name="Text 4"/>
          <p:cNvSpPr txBox="1"/>
          <p:nvPr/>
        </p:nvSpPr>
        <p:spPr bwMode="auto"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800"/>
          </a:p>
        </p:txBody>
      </p:sp>
      <p:sp>
        <p:nvSpPr>
          <p:cNvPr id="793616373" name="Text 5"/>
          <p:cNvSpPr txBox="1"/>
          <p:nvPr/>
        </p:nvSpPr>
        <p:spPr bwMode="auto">
          <a:xfrm>
            <a:off x="1600200" y="1993392"/>
            <a:ext cx="4160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Mutual Exclusion</a:t>
            </a:r>
            <a:endParaRPr lang="en-US" sz="1600"/>
          </a:p>
        </p:txBody>
      </p:sp>
      <p:sp>
        <p:nvSpPr>
          <p:cNvPr id="1832810511" name="Text 6"/>
          <p:cNvSpPr txBox="1"/>
          <p:nvPr/>
        </p:nvSpPr>
        <p:spPr bwMode="auto">
          <a:xfrm>
            <a:off x="914400" y="26060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Only one process can use a resource at a time — it can't be shared.</a:t>
            </a:r>
            <a:endParaRPr lang="en-US" sz="1250"/>
          </a:p>
        </p:txBody>
      </p:sp>
      <p:sp>
        <p:nvSpPr>
          <p:cNvPr id="781870158" name="Text 7"/>
          <p:cNvSpPr txBox="1"/>
          <p:nvPr/>
        </p:nvSpPr>
        <p:spPr bwMode="auto">
          <a:xfrm>
            <a:off x="914400" y="31546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 i="1">
                <a:solidFill>
                  <a:srgbClr val="E8543E"/>
                </a:solidFill>
                <a:latin typeface="Calibri"/>
                <a:ea typeface="Calibri"/>
                <a:cs typeface="Calibri"/>
              </a:rPr>
              <a:t>e.g. Like a hotstar account — only one person can use it at once.</a:t>
            </a:r>
            <a:endParaRPr lang="en-US" sz="1150"/>
          </a:p>
        </p:txBody>
      </p:sp>
      <p:sp>
        <p:nvSpPr>
          <p:cNvPr id="2084734402" name="Shape 8"/>
          <p:cNvSpPr/>
          <p:nvPr/>
        </p:nvSpPr>
        <p:spPr bwMode="auto">
          <a:xfrm>
            <a:off x="6263640" y="1737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115624867" name="Shape 9"/>
          <p:cNvSpPr/>
          <p:nvPr/>
        </p:nvSpPr>
        <p:spPr bwMode="auto">
          <a:xfrm>
            <a:off x="653796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7554460" name="Text 10"/>
          <p:cNvSpPr txBox="1"/>
          <p:nvPr/>
        </p:nvSpPr>
        <p:spPr bwMode="auto">
          <a:xfrm>
            <a:off x="6537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800"/>
          </a:p>
        </p:txBody>
      </p:sp>
      <p:sp>
        <p:nvSpPr>
          <p:cNvPr id="926169872" name="Text 11"/>
          <p:cNvSpPr txBox="1"/>
          <p:nvPr/>
        </p:nvSpPr>
        <p:spPr bwMode="auto">
          <a:xfrm>
            <a:off x="7223760" y="1993392"/>
            <a:ext cx="4160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Hold and Wait</a:t>
            </a:r>
            <a:endParaRPr lang="en-US" sz="1600"/>
          </a:p>
        </p:txBody>
      </p:sp>
      <p:sp>
        <p:nvSpPr>
          <p:cNvPr id="1288138482" name="Text 12"/>
          <p:cNvSpPr txBox="1"/>
          <p:nvPr/>
        </p:nvSpPr>
        <p:spPr bwMode="auto">
          <a:xfrm>
            <a:off x="6537960" y="26060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A process is holding one thing while waiting to grab another.</a:t>
            </a:r>
            <a:endParaRPr lang="en-US" sz="1250"/>
          </a:p>
        </p:txBody>
      </p:sp>
      <p:sp>
        <p:nvSpPr>
          <p:cNvPr id="1476395380" name="Text 13"/>
          <p:cNvSpPr txBox="1"/>
          <p:nvPr/>
        </p:nvSpPr>
        <p:spPr bwMode="auto">
          <a:xfrm>
            <a:off x="6537960" y="31546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 i="1">
                <a:solidFill>
                  <a:srgbClr val="E8543E"/>
                </a:solidFill>
                <a:latin typeface="Calibri"/>
                <a:ea typeface="Calibri"/>
                <a:cs typeface="Calibri"/>
              </a:rPr>
              <a:t>e.g. You're holding a fork, and waiting for someone to hand you a knife.</a:t>
            </a:r>
            <a:endParaRPr lang="en-US" sz="1150"/>
          </a:p>
        </p:txBody>
      </p:sp>
      <p:sp>
        <p:nvSpPr>
          <p:cNvPr id="501428955" name="Shape 14"/>
          <p:cNvSpPr/>
          <p:nvPr/>
        </p:nvSpPr>
        <p:spPr bwMode="auto">
          <a:xfrm>
            <a:off x="640080" y="4114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140669577" name="Shape 15"/>
          <p:cNvSpPr/>
          <p:nvPr/>
        </p:nvSpPr>
        <p:spPr bwMode="auto">
          <a:xfrm>
            <a:off x="914400" y="4389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5283957" name="Text 16"/>
          <p:cNvSpPr txBox="1"/>
          <p:nvPr/>
        </p:nvSpPr>
        <p:spPr bwMode="auto">
          <a:xfrm>
            <a:off x="9144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800"/>
          </a:p>
        </p:txBody>
      </p:sp>
      <p:sp>
        <p:nvSpPr>
          <p:cNvPr id="1926204884" name="Text 17"/>
          <p:cNvSpPr txBox="1"/>
          <p:nvPr/>
        </p:nvSpPr>
        <p:spPr bwMode="auto">
          <a:xfrm>
            <a:off x="1600200" y="4370832"/>
            <a:ext cx="4160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No Preemption</a:t>
            </a:r>
            <a:endParaRPr lang="en-US" sz="1600"/>
          </a:p>
        </p:txBody>
      </p:sp>
      <p:sp>
        <p:nvSpPr>
          <p:cNvPr id="246628616" name="Text 18"/>
          <p:cNvSpPr txBox="1"/>
          <p:nvPr/>
        </p:nvSpPr>
        <p:spPr bwMode="auto">
          <a:xfrm>
            <a:off x="914400" y="4983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No one can force a process to give up what it's already holding.</a:t>
            </a:r>
            <a:endParaRPr lang="en-US" sz="1250"/>
          </a:p>
        </p:txBody>
      </p:sp>
      <p:sp>
        <p:nvSpPr>
          <p:cNvPr id="1905960877" name="Text 19"/>
          <p:cNvSpPr txBox="1"/>
          <p:nvPr/>
        </p:nvSpPr>
        <p:spPr bwMode="auto">
          <a:xfrm>
            <a:off x="914400" y="55321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 i="1">
                <a:solidFill>
                  <a:srgbClr val="E8543E"/>
                </a:solidFill>
                <a:latin typeface="Calibri"/>
                <a:ea typeface="Calibri"/>
                <a:cs typeface="Calibri"/>
              </a:rPr>
              <a:t>e.g. Nobody can snatch the fork out of your hand — you must put it down yourself.</a:t>
            </a:r>
            <a:endParaRPr lang="en-US" sz="1150"/>
          </a:p>
        </p:txBody>
      </p:sp>
      <p:sp>
        <p:nvSpPr>
          <p:cNvPr id="306703922" name="Shape 20"/>
          <p:cNvSpPr/>
          <p:nvPr/>
        </p:nvSpPr>
        <p:spPr bwMode="auto">
          <a:xfrm>
            <a:off x="6263640" y="4114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064476178" name="Shape 21"/>
          <p:cNvSpPr/>
          <p:nvPr/>
        </p:nvSpPr>
        <p:spPr bwMode="auto">
          <a:xfrm>
            <a:off x="6537960" y="4389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90038610" name="Text 22"/>
          <p:cNvSpPr txBox="1"/>
          <p:nvPr/>
        </p:nvSpPr>
        <p:spPr bwMode="auto">
          <a:xfrm>
            <a:off x="6537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800"/>
          </a:p>
        </p:txBody>
      </p:sp>
      <p:sp>
        <p:nvSpPr>
          <p:cNvPr id="679619835" name="Text 23"/>
          <p:cNvSpPr txBox="1"/>
          <p:nvPr/>
        </p:nvSpPr>
        <p:spPr bwMode="auto">
          <a:xfrm>
            <a:off x="7223760" y="4370832"/>
            <a:ext cx="4160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Circular Wait</a:t>
            </a:r>
            <a:endParaRPr lang="en-US" sz="1600"/>
          </a:p>
        </p:txBody>
      </p:sp>
      <p:sp>
        <p:nvSpPr>
          <p:cNvPr id="1485630666" name="Text 24"/>
          <p:cNvSpPr txBox="1"/>
          <p:nvPr/>
        </p:nvSpPr>
        <p:spPr bwMode="auto">
          <a:xfrm>
            <a:off x="6537960" y="4983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Everyone is waiting on the next person, forming a closed loop.</a:t>
            </a:r>
            <a:endParaRPr lang="en-US" sz="1250"/>
          </a:p>
        </p:txBody>
      </p:sp>
      <p:sp>
        <p:nvSpPr>
          <p:cNvPr id="1804025550" name="Text 25"/>
          <p:cNvSpPr txBox="1"/>
          <p:nvPr/>
        </p:nvSpPr>
        <p:spPr bwMode="auto">
          <a:xfrm>
            <a:off x="6537960" y="55321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150" i="1">
                <a:solidFill>
                  <a:srgbClr val="E8543E"/>
                </a:solidFill>
                <a:latin typeface="Calibri"/>
                <a:ea typeface="Calibri"/>
                <a:cs typeface="Calibri"/>
              </a:rPr>
              <a:t>e.g. A waits for B, B waits for C, and C waits for A. The loop never breaks.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4:prism dir="r" isContent="1" isInverted="1"/>
      </p:transition>
    </mc:Choice>
    <mc:Fallback>
      <p:transition spd="slow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676538" name="Text 0"/>
          <p:cNvSpPr txBox="1"/>
          <p:nvPr/>
        </p:nvSpPr>
        <p:spPr bwMode="auto"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Three Ways to Handle Deadlock</a:t>
            </a:r>
            <a:endParaRPr lang="en-US" sz="3200"/>
          </a:p>
        </p:txBody>
      </p:sp>
      <p:sp>
        <p:nvSpPr>
          <p:cNvPr id="1983704475" name="Text 1"/>
          <p:cNvSpPr txBox="1"/>
          <p:nvPr/>
        </p:nvSpPr>
        <p:spPr bwMode="auto"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The computer's operating system can pick any one of these three approaches.</a:t>
            </a:r>
            <a:endParaRPr lang="en-US" sz="1400"/>
          </a:p>
        </p:txBody>
      </p:sp>
      <p:sp>
        <p:nvSpPr>
          <p:cNvPr id="251136157" name="Shape 2"/>
          <p:cNvSpPr/>
          <p:nvPr/>
        </p:nvSpPr>
        <p:spPr bwMode="auto">
          <a:xfrm>
            <a:off x="640080" y="173736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sx="100000" sy="100000" kx="0" ky="0" algn="bl" rotWithShape="0">
              <a:srgbClr val="44475A">
                <a:alpha val="18000"/>
              </a:srgbClr>
            </a:outerShdw>
          </a:effectLst>
        </p:spPr>
      </p:sp>
      <p:sp>
        <p:nvSpPr>
          <p:cNvPr id="898800005" name="Shape 3"/>
          <p:cNvSpPr/>
          <p:nvPr/>
        </p:nvSpPr>
        <p:spPr bwMode="auto">
          <a:xfrm>
            <a:off x="640080" y="173736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741676166" name="Shape 4"/>
          <p:cNvSpPr/>
          <p:nvPr/>
        </p:nvSpPr>
        <p:spPr bwMode="auto">
          <a:xfrm>
            <a:off x="640080" y="1993392"/>
            <a:ext cx="34290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19448276" name="Text 5"/>
          <p:cNvSpPr txBox="1"/>
          <p:nvPr/>
        </p:nvSpPr>
        <p:spPr bwMode="auto">
          <a:xfrm>
            <a:off x="868680" y="1737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Prevention</a:t>
            </a:r>
            <a:endParaRPr lang="en-US" sz="1600"/>
          </a:p>
        </p:txBody>
      </p:sp>
      <p:sp>
        <p:nvSpPr>
          <p:cNvPr id="987467007" name="Text 6"/>
          <p:cNvSpPr txBox="1"/>
          <p:nvPr/>
        </p:nvSpPr>
        <p:spPr bwMode="auto">
          <a:xfrm>
            <a:off x="914400" y="2514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Stop deadlocks from ever forming, by making sure at least one of the four conditions can never happen.</a:t>
            </a:r>
            <a:endParaRPr lang="en-US" sz="1300"/>
          </a:p>
        </p:txBody>
      </p:sp>
      <p:sp>
        <p:nvSpPr>
          <p:cNvPr id="2085759180" name="Shape 7"/>
          <p:cNvSpPr/>
          <p:nvPr/>
        </p:nvSpPr>
        <p:spPr bwMode="auto">
          <a:xfrm>
            <a:off x="914400" y="525780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F7F8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310084471" name="Text 8"/>
          <p:cNvSpPr txBox="1"/>
          <p:nvPr/>
        </p:nvSpPr>
        <p:spPr bwMode="auto">
          <a:xfrm>
            <a:off x="914400" y="5257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i="1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Play it safe</a:t>
            </a:r>
            <a:endParaRPr lang="en-US" sz="1150"/>
          </a:p>
        </p:txBody>
      </p:sp>
      <p:sp>
        <p:nvSpPr>
          <p:cNvPr id="348018843" name="Shape 9"/>
          <p:cNvSpPr/>
          <p:nvPr/>
        </p:nvSpPr>
        <p:spPr bwMode="auto">
          <a:xfrm>
            <a:off x="4297680" y="173736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sx="100000" sy="100000" kx="0" ky="0" algn="bl" rotWithShape="0">
              <a:srgbClr val="44475A">
                <a:alpha val="18000"/>
              </a:srgbClr>
            </a:outerShdw>
          </a:effectLst>
        </p:spPr>
      </p:sp>
      <p:sp>
        <p:nvSpPr>
          <p:cNvPr id="609519920" name="Shape 10"/>
          <p:cNvSpPr/>
          <p:nvPr/>
        </p:nvSpPr>
        <p:spPr bwMode="auto">
          <a:xfrm>
            <a:off x="4297680" y="173736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3A4694"/>
          </a:solidFill>
          <a:ln/>
        </p:spPr>
      </p:sp>
      <p:sp>
        <p:nvSpPr>
          <p:cNvPr id="1494732695" name="Shape 11"/>
          <p:cNvSpPr/>
          <p:nvPr/>
        </p:nvSpPr>
        <p:spPr bwMode="auto">
          <a:xfrm>
            <a:off x="4297680" y="1993392"/>
            <a:ext cx="3429000" cy="246888"/>
          </a:xfrm>
          <a:prstGeom prst="rect">
            <a:avLst/>
          </a:prstGeom>
          <a:solidFill>
            <a:srgbClr val="3A4694"/>
          </a:solidFill>
          <a:ln/>
        </p:spPr>
      </p:sp>
      <p:sp>
        <p:nvSpPr>
          <p:cNvPr id="380955462" name="Text 12"/>
          <p:cNvSpPr txBox="1"/>
          <p:nvPr/>
        </p:nvSpPr>
        <p:spPr bwMode="auto">
          <a:xfrm>
            <a:off x="4526280" y="1737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Avoidance</a:t>
            </a:r>
            <a:endParaRPr lang="en-US" sz="1600"/>
          </a:p>
        </p:txBody>
      </p:sp>
      <p:sp>
        <p:nvSpPr>
          <p:cNvPr id="812329063" name="Text 13"/>
          <p:cNvSpPr txBox="1"/>
          <p:nvPr/>
        </p:nvSpPr>
        <p:spPr bwMode="auto">
          <a:xfrm>
            <a:off x="4572000" y="2514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Before saying yes to a request, check if it's still "safe" to grant. If not, make the process wait.</a:t>
            </a:r>
            <a:endParaRPr lang="en-US" sz="1300"/>
          </a:p>
        </p:txBody>
      </p:sp>
      <p:sp>
        <p:nvSpPr>
          <p:cNvPr id="1217232702" name="Shape 14"/>
          <p:cNvSpPr/>
          <p:nvPr/>
        </p:nvSpPr>
        <p:spPr bwMode="auto">
          <a:xfrm>
            <a:off x="4572000" y="525780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F7F8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1382786269" name="Text 15"/>
          <p:cNvSpPr txBox="1"/>
          <p:nvPr/>
        </p:nvSpPr>
        <p:spPr bwMode="auto">
          <a:xfrm>
            <a:off x="4572000" y="5257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i="1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Think ahead</a:t>
            </a:r>
            <a:endParaRPr lang="en-US" sz="1150"/>
          </a:p>
        </p:txBody>
      </p:sp>
      <p:sp>
        <p:nvSpPr>
          <p:cNvPr id="40945835" name="Shape 16"/>
          <p:cNvSpPr/>
          <p:nvPr/>
        </p:nvSpPr>
        <p:spPr bwMode="auto">
          <a:xfrm>
            <a:off x="7955280" y="173736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101600" dist="38100" dir="5400000" sx="100000" sy="100000" kx="0" ky="0" algn="bl" rotWithShape="0">
              <a:srgbClr val="44475A">
                <a:alpha val="18000"/>
              </a:srgbClr>
            </a:outerShdw>
          </a:effectLst>
        </p:spPr>
      </p:sp>
      <p:sp>
        <p:nvSpPr>
          <p:cNvPr id="26247660" name="Shape 17"/>
          <p:cNvSpPr/>
          <p:nvPr/>
        </p:nvSpPr>
        <p:spPr bwMode="auto">
          <a:xfrm>
            <a:off x="7955280" y="1737360"/>
            <a:ext cx="3429000" cy="502920"/>
          </a:xfrm>
          <a:prstGeom prst="roundRect">
            <a:avLst>
              <a:gd name="adj" fmla="val 14545"/>
            </a:avLst>
          </a:prstGeom>
          <a:solidFill>
            <a:srgbClr val="E8543E"/>
          </a:solidFill>
          <a:ln/>
        </p:spPr>
      </p:sp>
      <p:sp>
        <p:nvSpPr>
          <p:cNvPr id="29320030" name="Shape 18"/>
          <p:cNvSpPr/>
          <p:nvPr/>
        </p:nvSpPr>
        <p:spPr bwMode="auto">
          <a:xfrm>
            <a:off x="7955280" y="1993392"/>
            <a:ext cx="3429000" cy="246888"/>
          </a:xfrm>
          <a:prstGeom prst="rect">
            <a:avLst/>
          </a:prstGeom>
          <a:solidFill>
            <a:srgbClr val="E8543E"/>
          </a:solidFill>
          <a:ln/>
        </p:spPr>
      </p:sp>
      <p:sp>
        <p:nvSpPr>
          <p:cNvPr id="1981821614" name="Text 19"/>
          <p:cNvSpPr txBox="1"/>
          <p:nvPr/>
        </p:nvSpPr>
        <p:spPr bwMode="auto">
          <a:xfrm>
            <a:off x="8183880" y="1737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Detection &amp; Recovery</a:t>
            </a:r>
            <a:endParaRPr lang="en-US" sz="1600"/>
          </a:p>
        </p:txBody>
      </p:sp>
      <p:sp>
        <p:nvSpPr>
          <p:cNvPr id="1964778839" name="Text 20"/>
          <p:cNvSpPr txBox="1"/>
          <p:nvPr/>
        </p:nvSpPr>
        <p:spPr bwMode="auto">
          <a:xfrm>
            <a:off x="8229600" y="2514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3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Let deadlocks happen, catch them by checking for loops, then fix it by stopping one process.</a:t>
            </a:r>
            <a:endParaRPr lang="en-US" sz="1300"/>
          </a:p>
        </p:txBody>
      </p:sp>
      <p:sp>
        <p:nvSpPr>
          <p:cNvPr id="1734718785" name="Shape 21"/>
          <p:cNvSpPr/>
          <p:nvPr/>
        </p:nvSpPr>
        <p:spPr bwMode="auto">
          <a:xfrm>
            <a:off x="8229600" y="525780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F7F8FC"/>
          </a:solidFill>
          <a:ln w="12700">
            <a:solidFill>
              <a:srgbClr val="E2E6F5"/>
            </a:solidFill>
            <a:prstDash val="solid"/>
          </a:ln>
        </p:spPr>
      </p:sp>
      <p:sp>
        <p:nvSpPr>
          <p:cNvPr id="549698581" name="Text 22"/>
          <p:cNvSpPr txBox="1"/>
          <p:nvPr/>
        </p:nvSpPr>
        <p:spPr bwMode="auto">
          <a:xfrm>
            <a:off x="8229600" y="5257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i="1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Fix it later</a:t>
            </a:r>
            <a:endParaRPr lang="en-US" sz="1150"/>
          </a:p>
        </p:txBody>
      </p:sp>
      <p:sp>
        <p:nvSpPr>
          <p:cNvPr id="742952113" name="Text 23"/>
          <p:cNvSpPr txBox="1"/>
          <p:nvPr/>
        </p:nvSpPr>
        <p:spPr bwMode="auto"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This deck focuses on Prevention — the easiest one to understand. Let's dive in!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4:flip dir="l"/>
      </p:transition>
    </mc:Choice>
    <mc:Fallback>
      <p:transition spd="slow" advClick="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819859" name="Text 0"/>
          <p:cNvSpPr txBox="1"/>
          <p:nvPr/>
        </p:nvSpPr>
        <p:spPr bwMode="auto"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Deadlock Prevention</a:t>
            </a:r>
            <a:endParaRPr lang="en-US" sz="3200"/>
          </a:p>
        </p:txBody>
      </p:sp>
      <p:sp>
        <p:nvSpPr>
          <p:cNvPr id="1175469876" name="Text 1"/>
          <p:cNvSpPr txBox="1"/>
          <p:nvPr/>
        </p:nvSpPr>
        <p:spPr bwMode="auto">
          <a:xfrm>
            <a:off x="640080" y="1188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trick is simple: break just ONE of the four conditions, and deadlock can't happen at all.</a:t>
            </a:r>
            <a:endParaRPr lang="en-US" sz="1500"/>
          </a:p>
        </p:txBody>
      </p:sp>
      <p:sp>
        <p:nvSpPr>
          <p:cNvPr id="1905571707" name="Shape 2"/>
          <p:cNvSpPr/>
          <p:nvPr/>
        </p:nvSpPr>
        <p:spPr bwMode="auto">
          <a:xfrm>
            <a:off x="640080" y="196596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6317A"/>
          </a:solidFill>
          <a:ln/>
        </p:spPr>
      </p:sp>
      <p:sp>
        <p:nvSpPr>
          <p:cNvPr id="1387940773" name="Shape 3"/>
          <p:cNvSpPr/>
          <p:nvPr/>
        </p:nvSpPr>
        <p:spPr bwMode="auto">
          <a:xfrm>
            <a:off x="868680" y="2148840"/>
            <a:ext cx="2468880" cy="512064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1678084569" name="Text 4"/>
          <p:cNvSpPr txBox="1"/>
          <p:nvPr/>
        </p:nvSpPr>
        <p:spPr bwMode="auto">
          <a:xfrm>
            <a:off x="868680" y="214884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Mutual Exclusion</a:t>
            </a:r>
            <a:endParaRPr lang="en-US" sz="1250"/>
          </a:p>
        </p:txBody>
      </p:sp>
      <p:sp>
        <p:nvSpPr>
          <p:cNvPr id="739060739" name="Text 5"/>
          <p:cNvSpPr txBox="1"/>
          <p:nvPr/>
        </p:nvSpPr>
        <p:spPr bwMode="auto">
          <a:xfrm>
            <a:off x="3520440" y="1965960"/>
            <a:ext cx="7818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Let resources be shared when possible (like a read-only file everyone can view at once).</a:t>
            </a:r>
            <a:endParaRPr lang="en-US" sz="1250"/>
          </a:p>
        </p:txBody>
      </p:sp>
      <p:sp>
        <p:nvSpPr>
          <p:cNvPr id="2019850947" name="Shape 6"/>
          <p:cNvSpPr/>
          <p:nvPr/>
        </p:nvSpPr>
        <p:spPr bwMode="auto">
          <a:xfrm>
            <a:off x="640080" y="2990088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6317A"/>
          </a:solidFill>
          <a:ln/>
        </p:spPr>
      </p:sp>
      <p:sp>
        <p:nvSpPr>
          <p:cNvPr id="1632173257" name="Shape 7"/>
          <p:cNvSpPr/>
          <p:nvPr/>
        </p:nvSpPr>
        <p:spPr bwMode="auto">
          <a:xfrm>
            <a:off x="868680" y="3172968"/>
            <a:ext cx="2468880" cy="512064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859206212" name="Text 8"/>
          <p:cNvSpPr txBox="1"/>
          <p:nvPr/>
        </p:nvSpPr>
        <p:spPr bwMode="auto">
          <a:xfrm>
            <a:off x="868680" y="317296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Hold and Wait</a:t>
            </a:r>
            <a:endParaRPr lang="en-US" sz="1250"/>
          </a:p>
        </p:txBody>
      </p:sp>
      <p:sp>
        <p:nvSpPr>
          <p:cNvPr id="1126061879" name="Text 9"/>
          <p:cNvSpPr txBox="1"/>
          <p:nvPr/>
        </p:nvSpPr>
        <p:spPr bwMode="auto">
          <a:xfrm>
            <a:off x="3520440" y="2990088"/>
            <a:ext cx="7818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Make a process ask for everything it needs at the start, instead of grabbing things one by one.</a:t>
            </a:r>
            <a:endParaRPr lang="en-US" sz="1250"/>
          </a:p>
        </p:txBody>
      </p:sp>
      <p:sp>
        <p:nvSpPr>
          <p:cNvPr id="260822143" name="Shape 10"/>
          <p:cNvSpPr/>
          <p:nvPr/>
        </p:nvSpPr>
        <p:spPr bwMode="auto">
          <a:xfrm>
            <a:off x="640080" y="401421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6317A"/>
          </a:solidFill>
          <a:ln/>
        </p:spPr>
      </p:sp>
      <p:sp>
        <p:nvSpPr>
          <p:cNvPr id="334584927" name="Shape 11"/>
          <p:cNvSpPr/>
          <p:nvPr/>
        </p:nvSpPr>
        <p:spPr bwMode="auto">
          <a:xfrm>
            <a:off x="868680" y="4197096"/>
            <a:ext cx="2468880" cy="512064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836114148" name="Text 12"/>
          <p:cNvSpPr txBox="1"/>
          <p:nvPr/>
        </p:nvSpPr>
        <p:spPr bwMode="auto">
          <a:xfrm>
            <a:off x="868680" y="419709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Preemption</a:t>
            </a:r>
            <a:endParaRPr lang="en-US" sz="1250"/>
          </a:p>
        </p:txBody>
      </p:sp>
      <p:sp>
        <p:nvSpPr>
          <p:cNvPr id="1881210241" name="Text 13"/>
          <p:cNvSpPr txBox="1"/>
          <p:nvPr/>
        </p:nvSpPr>
        <p:spPr bwMode="auto">
          <a:xfrm>
            <a:off x="3520440" y="4014216"/>
            <a:ext cx="7818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If a process can't get what it needs, take back what it's already holding until it can get everything together.</a:t>
            </a:r>
            <a:endParaRPr lang="en-US" sz="1250"/>
          </a:p>
        </p:txBody>
      </p:sp>
      <p:sp>
        <p:nvSpPr>
          <p:cNvPr id="116588826" name="Shape 14"/>
          <p:cNvSpPr/>
          <p:nvPr/>
        </p:nvSpPr>
        <p:spPr bwMode="auto">
          <a:xfrm>
            <a:off x="640080" y="503834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6317A"/>
          </a:solidFill>
          <a:ln/>
        </p:spPr>
      </p:sp>
      <p:sp>
        <p:nvSpPr>
          <p:cNvPr id="423460878" name="Shape 15"/>
          <p:cNvSpPr/>
          <p:nvPr/>
        </p:nvSpPr>
        <p:spPr bwMode="auto">
          <a:xfrm>
            <a:off x="868680" y="5221224"/>
            <a:ext cx="2468880" cy="512064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2004767187" name="Text 16"/>
          <p:cNvSpPr txBox="1"/>
          <p:nvPr/>
        </p:nvSpPr>
        <p:spPr bwMode="auto">
          <a:xfrm>
            <a:off x="868680" y="522122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Circular Wait</a:t>
            </a:r>
            <a:endParaRPr lang="en-US" sz="1250"/>
          </a:p>
        </p:txBody>
      </p:sp>
      <p:sp>
        <p:nvSpPr>
          <p:cNvPr id="1269494315" name="Text 17"/>
          <p:cNvSpPr txBox="1"/>
          <p:nvPr/>
        </p:nvSpPr>
        <p:spPr bwMode="auto">
          <a:xfrm>
            <a:off x="3520440" y="5038344"/>
            <a:ext cx="7818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Give every resource a fixed number, and only allow requests in increasing order — so no loop can ever form.</a:t>
            </a:r>
            <a:endParaRPr lang="en-US" sz="12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794382" name="Text 0"/>
          <p:cNvSpPr txBox="1"/>
          <p:nvPr/>
        </p:nvSpPr>
        <p:spPr bwMode="auto"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Fixing Condition 1 &amp; 2</a:t>
            </a:r>
            <a:endParaRPr lang="en-US" sz="2700"/>
          </a:p>
        </p:txBody>
      </p:sp>
      <p:sp>
        <p:nvSpPr>
          <p:cNvPr id="1311805657" name="Shape 1"/>
          <p:cNvSpPr/>
          <p:nvPr/>
        </p:nvSpPr>
        <p:spPr bwMode="auto">
          <a:xfrm>
            <a:off x="64008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7F8FC"/>
          </a:solidFill>
          <a:ln/>
        </p:spPr>
      </p:sp>
      <p:sp>
        <p:nvSpPr>
          <p:cNvPr id="184807274" name="Shape 2"/>
          <p:cNvSpPr/>
          <p:nvPr/>
        </p:nvSpPr>
        <p:spPr bwMode="auto">
          <a:xfrm>
            <a:off x="960120" y="1737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14177672" name="Text 3"/>
          <p:cNvSpPr txBox="1"/>
          <p:nvPr/>
        </p:nvSpPr>
        <p:spPr bwMode="auto">
          <a:xfrm>
            <a:off x="9601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2000"/>
          </a:p>
        </p:txBody>
      </p:sp>
      <p:sp>
        <p:nvSpPr>
          <p:cNvPr id="1939269784" name="Text 4"/>
          <p:cNvSpPr txBox="1"/>
          <p:nvPr/>
        </p:nvSpPr>
        <p:spPr bwMode="auto">
          <a:xfrm>
            <a:off x="1645920" y="17830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Mutual Exclusion</a:t>
            </a:r>
            <a:endParaRPr lang="en-US" sz="1800"/>
          </a:p>
        </p:txBody>
      </p:sp>
      <p:sp>
        <p:nvSpPr>
          <p:cNvPr id="1050917932" name="Text 5"/>
          <p:cNvSpPr txBox="1"/>
          <p:nvPr/>
        </p:nvSpPr>
        <p:spPr bwMode="auto">
          <a:xfrm>
            <a:off x="960120" y="24688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We can't always avoid this — some things (like a printer) truly can only be used by one person at a time. But we can still help:</a:t>
            </a:r>
            <a:endParaRPr lang="en-US" sz="1250"/>
          </a:p>
        </p:txBody>
      </p:sp>
      <p:sp>
        <p:nvSpPr>
          <p:cNvPr id="1777412518" name="Shape 6"/>
          <p:cNvSpPr/>
          <p:nvPr/>
        </p:nvSpPr>
        <p:spPr bwMode="auto">
          <a:xfrm>
            <a:off x="960120" y="3255264"/>
            <a:ext cx="82296" cy="82296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59083013" name="Text 7"/>
          <p:cNvSpPr txBox="1"/>
          <p:nvPr/>
        </p:nvSpPr>
        <p:spPr bwMode="auto">
          <a:xfrm>
            <a:off x="1188720" y="3081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Let shareable things (like a read-only file) be used by many at once</a:t>
            </a:r>
            <a:endParaRPr lang="en-US" sz="1200"/>
          </a:p>
        </p:txBody>
      </p:sp>
      <p:sp>
        <p:nvSpPr>
          <p:cNvPr id="494280148" name="Shape 8"/>
          <p:cNvSpPr/>
          <p:nvPr/>
        </p:nvSpPr>
        <p:spPr bwMode="auto">
          <a:xfrm>
            <a:off x="960120" y="3822192"/>
            <a:ext cx="82296" cy="82296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050802239" name="Text 9"/>
          <p:cNvSpPr txBox="1"/>
          <p:nvPr/>
        </p:nvSpPr>
        <p:spPr bwMode="auto">
          <a:xfrm>
            <a:off x="1188720" y="36484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For a printer, add a queue so requests line up instead of getting stuck</a:t>
            </a:r>
            <a:endParaRPr lang="en-US" sz="1200"/>
          </a:p>
        </p:txBody>
      </p:sp>
      <p:sp>
        <p:nvSpPr>
          <p:cNvPr id="895207507" name="Shape 10"/>
          <p:cNvSpPr/>
          <p:nvPr/>
        </p:nvSpPr>
        <p:spPr bwMode="auto">
          <a:xfrm>
            <a:off x="960120" y="4480560"/>
            <a:ext cx="4709160" cy="0"/>
          </a:xfrm>
          <a:prstGeom prst="line">
            <a:avLst/>
          </a:prstGeom>
          <a:noFill/>
          <a:ln w="12700">
            <a:solidFill>
              <a:srgbClr val="E2E6F5"/>
            </a:solidFill>
            <a:prstDash val="solid"/>
          </a:ln>
        </p:spPr>
      </p:sp>
      <p:sp>
        <p:nvSpPr>
          <p:cNvPr id="1865821578" name="Shape 11"/>
          <p:cNvSpPr/>
          <p:nvPr/>
        </p:nvSpPr>
        <p:spPr bwMode="auto">
          <a:xfrm>
            <a:off x="960120" y="4663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5581368" name="Text 12"/>
          <p:cNvSpPr txBox="1"/>
          <p:nvPr/>
        </p:nvSpPr>
        <p:spPr bwMode="auto">
          <a:xfrm>
            <a:off x="9601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2000"/>
          </a:p>
        </p:txBody>
      </p:sp>
      <p:sp>
        <p:nvSpPr>
          <p:cNvPr id="2008413828" name="Text 13"/>
          <p:cNvSpPr txBox="1"/>
          <p:nvPr/>
        </p:nvSpPr>
        <p:spPr bwMode="auto">
          <a:xfrm>
            <a:off x="1645920" y="47091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Hold and Wait</a:t>
            </a:r>
            <a:endParaRPr lang="en-US" sz="1800"/>
          </a:p>
        </p:txBody>
      </p:sp>
      <p:sp>
        <p:nvSpPr>
          <p:cNvPr id="486346276" name="Text 14"/>
          <p:cNvSpPr txBox="1"/>
          <p:nvPr/>
        </p:nvSpPr>
        <p:spPr bwMode="auto">
          <a:xfrm>
            <a:off x="960120" y="53949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The fix: make a process ask for everything it needs before it starts — never let it hold one thing while asking for another.</a:t>
            </a:r>
            <a:endParaRPr lang="en-US" sz="1250"/>
          </a:p>
        </p:txBody>
      </p:sp>
      <p:sp>
        <p:nvSpPr>
          <p:cNvPr id="1018025705" name="Shape 15"/>
          <p:cNvSpPr/>
          <p:nvPr/>
        </p:nvSpPr>
        <p:spPr bwMode="auto">
          <a:xfrm>
            <a:off x="6400800" y="141732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BEAE7"/>
          </a:solidFill>
          <a:ln w="12700">
            <a:solidFill>
              <a:srgbClr val="E8543E"/>
            </a:solidFill>
            <a:prstDash val="solid"/>
          </a:ln>
        </p:spPr>
      </p:sp>
      <p:sp>
        <p:nvSpPr>
          <p:cNvPr id="1382526398" name="Text 16"/>
          <p:cNvSpPr txBox="1"/>
          <p:nvPr/>
        </p:nvSpPr>
        <p:spPr bwMode="auto">
          <a:xfrm>
            <a:off x="66751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E8543E"/>
                </a:solidFill>
                <a:latin typeface="Calibri"/>
                <a:ea typeface="Calibri"/>
                <a:cs typeface="Calibri"/>
              </a:rPr>
              <a:t>Without prevention</a:t>
            </a:r>
            <a:endParaRPr lang="en-US" sz="1250"/>
          </a:p>
        </p:txBody>
      </p:sp>
      <p:sp>
        <p:nvSpPr>
          <p:cNvPr id="1842830775" name="Text 17"/>
          <p:cNvSpPr txBox="1"/>
          <p:nvPr/>
        </p:nvSpPr>
        <p:spPr bwMode="auto">
          <a:xfrm>
            <a:off x="6675120" y="20116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  <a:defRPr/>
            </a:pPr>
            <a:r>
              <a:rPr lang="en-US" sz="13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Hari picks up the Pen, then asks for the Ruler while still holding the Pen. If Thameem does the Thameeme thing in reverse, they get stuck — just like our earlier example.</a:t>
            </a:r>
            <a:endParaRPr lang="en-US" sz="1300"/>
          </a:p>
        </p:txBody>
      </p:sp>
      <p:sp>
        <p:nvSpPr>
          <p:cNvPr id="540266375" name="Shape 18"/>
          <p:cNvSpPr/>
          <p:nvPr/>
        </p:nvSpPr>
        <p:spPr bwMode="auto">
          <a:xfrm>
            <a:off x="6400800" y="39776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E7EC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73115802" name="Text 19"/>
          <p:cNvSpPr txBox="1"/>
          <p:nvPr/>
        </p:nvSpPr>
        <p:spPr bwMode="auto">
          <a:xfrm>
            <a:off x="6675120" y="4160519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With prevention</a:t>
            </a:r>
            <a:endParaRPr lang="en-US" sz="1250"/>
          </a:p>
        </p:txBody>
      </p:sp>
      <p:sp>
        <p:nvSpPr>
          <p:cNvPr id="145059606" name="Text 20"/>
          <p:cNvSpPr txBox="1"/>
          <p:nvPr/>
        </p:nvSpPr>
        <p:spPr bwMode="auto">
          <a:xfrm>
            <a:off x="6675120" y="45720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  <a:defRPr/>
            </a:pPr>
            <a:r>
              <a:rPr lang="en-US" sz="13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Hari must ask for the Pen </a:t>
            </a:r>
            <a:r>
              <a:rPr lang="en-US" sz="13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AND</a:t>
            </a:r>
            <a:r>
              <a:rPr lang="en-US" sz="13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 the Ruler together, right at the start. If both aren't free, Hari simply waits — and never ends up holding just one item.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comb dir="horz"/>
      </p:transition>
    </mc:Choice>
    <mc:Fallback>
      <p:transition spd="slow" advClick="1">
        <p:comb dir="horz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160546" name="Text 0"/>
          <p:cNvSpPr txBox="1"/>
          <p:nvPr/>
        </p:nvSpPr>
        <p:spPr bwMode="auto"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Fixing Condition 3 &amp; 4</a:t>
            </a:r>
            <a:endParaRPr lang="en-US" sz="2700"/>
          </a:p>
        </p:txBody>
      </p:sp>
      <p:sp>
        <p:nvSpPr>
          <p:cNvPr id="133858878" name="Shape 1"/>
          <p:cNvSpPr/>
          <p:nvPr/>
        </p:nvSpPr>
        <p:spPr bwMode="auto">
          <a:xfrm>
            <a:off x="64008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7F8FC"/>
          </a:solidFill>
          <a:ln/>
        </p:spPr>
      </p:sp>
      <p:sp>
        <p:nvSpPr>
          <p:cNvPr id="1374642280" name="Shape 2"/>
          <p:cNvSpPr/>
          <p:nvPr/>
        </p:nvSpPr>
        <p:spPr bwMode="auto">
          <a:xfrm>
            <a:off x="960120" y="17373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960631084" name="Text 3"/>
          <p:cNvSpPr txBox="1"/>
          <p:nvPr/>
        </p:nvSpPr>
        <p:spPr bwMode="auto">
          <a:xfrm>
            <a:off x="9601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2000"/>
          </a:p>
        </p:txBody>
      </p:sp>
      <p:sp>
        <p:nvSpPr>
          <p:cNvPr id="1712400203" name="Text 4"/>
          <p:cNvSpPr txBox="1"/>
          <p:nvPr/>
        </p:nvSpPr>
        <p:spPr bwMode="auto">
          <a:xfrm>
            <a:off x="1645920" y="17830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No Preemption</a:t>
            </a:r>
            <a:endParaRPr lang="en-US" sz="1800"/>
          </a:p>
        </p:txBody>
      </p:sp>
      <p:sp>
        <p:nvSpPr>
          <p:cNvPr id="1243584118" name="Text 5"/>
          <p:cNvSpPr txBox="1"/>
          <p:nvPr/>
        </p:nvSpPr>
        <p:spPr bwMode="auto">
          <a:xfrm>
            <a:off x="960120" y="24688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The fix: if a process can't get a resource it needs, just take back everything it's already holding — don't let it sit and wait.</a:t>
            </a:r>
            <a:endParaRPr lang="en-US" sz="1250"/>
          </a:p>
        </p:txBody>
      </p:sp>
      <p:sp>
        <p:nvSpPr>
          <p:cNvPr id="762151755" name="Shape 6"/>
          <p:cNvSpPr/>
          <p:nvPr/>
        </p:nvSpPr>
        <p:spPr bwMode="auto">
          <a:xfrm>
            <a:off x="960120" y="3346704"/>
            <a:ext cx="82296" cy="82296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762058087" name="Text 7"/>
          <p:cNvSpPr txBox="1"/>
          <p:nvPr/>
        </p:nvSpPr>
        <p:spPr bwMode="auto">
          <a:xfrm>
            <a:off x="1188720" y="3172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Hari must put the Pen back down if the Ruler isn't free</a:t>
            </a:r>
            <a:endParaRPr lang="en-US" sz="1200"/>
          </a:p>
        </p:txBody>
      </p:sp>
      <p:sp>
        <p:nvSpPr>
          <p:cNvPr id="2006555917" name="Shape 8"/>
          <p:cNvSpPr/>
          <p:nvPr/>
        </p:nvSpPr>
        <p:spPr bwMode="auto">
          <a:xfrm>
            <a:off x="960120" y="3913632"/>
            <a:ext cx="82296" cy="82296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223260594" name="Text 9"/>
          <p:cNvSpPr txBox="1"/>
          <p:nvPr/>
        </p:nvSpPr>
        <p:spPr bwMode="auto">
          <a:xfrm>
            <a:off x="1188720" y="37398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Hari tries again later, once both items can be given together</a:t>
            </a:r>
            <a:endParaRPr lang="en-US" sz="1200"/>
          </a:p>
        </p:txBody>
      </p:sp>
      <p:sp>
        <p:nvSpPr>
          <p:cNvPr id="204736937" name="Shape 10"/>
          <p:cNvSpPr/>
          <p:nvPr/>
        </p:nvSpPr>
        <p:spPr bwMode="auto">
          <a:xfrm>
            <a:off x="960120" y="4480560"/>
            <a:ext cx="4709160" cy="0"/>
          </a:xfrm>
          <a:prstGeom prst="line">
            <a:avLst/>
          </a:prstGeom>
          <a:noFill/>
          <a:ln w="12700">
            <a:solidFill>
              <a:srgbClr val="E2E6F5"/>
            </a:solidFill>
            <a:prstDash val="solid"/>
          </a:ln>
        </p:spPr>
      </p:sp>
      <p:sp>
        <p:nvSpPr>
          <p:cNvPr id="1818212205" name="Shape 11"/>
          <p:cNvSpPr/>
          <p:nvPr/>
        </p:nvSpPr>
        <p:spPr bwMode="auto">
          <a:xfrm>
            <a:off x="960120" y="4663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725011816" name="Text 12"/>
          <p:cNvSpPr txBox="1"/>
          <p:nvPr/>
        </p:nvSpPr>
        <p:spPr bwMode="auto">
          <a:xfrm>
            <a:off x="9601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2000"/>
          </a:p>
        </p:txBody>
      </p:sp>
      <p:sp>
        <p:nvSpPr>
          <p:cNvPr id="276782503" name="Text 13"/>
          <p:cNvSpPr txBox="1"/>
          <p:nvPr/>
        </p:nvSpPr>
        <p:spPr bwMode="auto">
          <a:xfrm>
            <a:off x="1645920" y="47091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Circular Wait</a:t>
            </a:r>
            <a:endParaRPr lang="en-US" sz="1800"/>
          </a:p>
        </p:txBody>
      </p:sp>
      <p:sp>
        <p:nvSpPr>
          <p:cNvPr id="1843889991" name="Text 14"/>
          <p:cNvSpPr txBox="1"/>
          <p:nvPr/>
        </p:nvSpPr>
        <p:spPr bwMode="auto">
          <a:xfrm>
            <a:off x="960120" y="53949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25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The fix: give every item a fixed number, and only allow people to ask for items in that order — going up, never down.</a:t>
            </a:r>
            <a:endParaRPr lang="en-US" sz="1250"/>
          </a:p>
        </p:txBody>
      </p:sp>
      <p:sp>
        <p:nvSpPr>
          <p:cNvPr id="568138545" name="Shape 15"/>
          <p:cNvSpPr/>
          <p:nvPr/>
        </p:nvSpPr>
        <p:spPr bwMode="auto">
          <a:xfrm>
            <a:off x="6400800" y="141732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E7EC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1852866" name="Text 16"/>
          <p:cNvSpPr txBox="1"/>
          <p:nvPr/>
        </p:nvSpPr>
        <p:spPr bwMode="auto">
          <a:xfrm>
            <a:off x="672084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Give every item a number</a:t>
            </a:r>
            <a:endParaRPr lang="en-US" sz="1400"/>
          </a:p>
        </p:txBody>
      </p:sp>
      <p:sp>
        <p:nvSpPr>
          <p:cNvPr id="1577682720" name="Shape 17"/>
          <p:cNvSpPr/>
          <p:nvPr/>
        </p:nvSpPr>
        <p:spPr bwMode="auto">
          <a:xfrm>
            <a:off x="6720840" y="2286000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70514902" name="Shape 18"/>
          <p:cNvSpPr/>
          <p:nvPr/>
        </p:nvSpPr>
        <p:spPr bwMode="auto">
          <a:xfrm>
            <a:off x="6903720" y="2404872"/>
            <a:ext cx="365760" cy="3657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661762855" name="Text 19"/>
          <p:cNvSpPr txBox="1"/>
          <p:nvPr/>
        </p:nvSpPr>
        <p:spPr bwMode="auto">
          <a:xfrm>
            <a:off x="690372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300"/>
          </a:p>
        </p:txBody>
      </p:sp>
      <p:sp>
        <p:nvSpPr>
          <p:cNvPr id="1932001602" name="Text 20"/>
          <p:cNvSpPr txBox="1"/>
          <p:nvPr/>
        </p:nvSpPr>
        <p:spPr bwMode="auto">
          <a:xfrm>
            <a:off x="7452360" y="2286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Pen | Tape driver</a:t>
            </a:r>
            <a:endParaRPr lang="en-US" sz="1300"/>
          </a:p>
        </p:txBody>
      </p:sp>
      <p:sp>
        <p:nvSpPr>
          <p:cNvPr id="1527365050" name="Shape 21"/>
          <p:cNvSpPr/>
          <p:nvPr/>
        </p:nvSpPr>
        <p:spPr bwMode="auto">
          <a:xfrm>
            <a:off x="7086600" y="2880360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29940979" name="Shape 22"/>
          <p:cNvSpPr/>
          <p:nvPr/>
        </p:nvSpPr>
        <p:spPr bwMode="auto">
          <a:xfrm>
            <a:off x="6720840" y="3017519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56030935" name="Shape 23"/>
          <p:cNvSpPr/>
          <p:nvPr/>
        </p:nvSpPr>
        <p:spPr bwMode="auto">
          <a:xfrm>
            <a:off x="6903720" y="3136392"/>
            <a:ext cx="365760" cy="3657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834805798" name="Text 24"/>
          <p:cNvSpPr txBox="1"/>
          <p:nvPr/>
        </p:nvSpPr>
        <p:spPr bwMode="auto">
          <a:xfrm>
            <a:off x="690372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300"/>
          </a:p>
        </p:txBody>
      </p:sp>
      <p:sp>
        <p:nvSpPr>
          <p:cNvPr id="1193380120" name="Text 25"/>
          <p:cNvSpPr txBox="1"/>
          <p:nvPr/>
        </p:nvSpPr>
        <p:spPr bwMode="auto">
          <a:xfrm>
            <a:off x="7452360" y="3017519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Notebook | Disk</a:t>
            </a:r>
            <a:endParaRPr lang="en-US" sz="1300"/>
          </a:p>
        </p:txBody>
      </p:sp>
      <p:sp>
        <p:nvSpPr>
          <p:cNvPr id="750360499" name="Shape 26"/>
          <p:cNvSpPr/>
          <p:nvPr/>
        </p:nvSpPr>
        <p:spPr bwMode="auto">
          <a:xfrm>
            <a:off x="7086600" y="3611880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03152182" name="Shape 27"/>
          <p:cNvSpPr/>
          <p:nvPr/>
        </p:nvSpPr>
        <p:spPr bwMode="auto">
          <a:xfrm>
            <a:off x="6720840" y="3749040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3546988" name="Shape 28"/>
          <p:cNvSpPr/>
          <p:nvPr/>
        </p:nvSpPr>
        <p:spPr bwMode="auto">
          <a:xfrm>
            <a:off x="6903720" y="3867911"/>
            <a:ext cx="365760" cy="3657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841718270" name="Text 29"/>
          <p:cNvSpPr txBox="1"/>
          <p:nvPr/>
        </p:nvSpPr>
        <p:spPr bwMode="auto">
          <a:xfrm>
            <a:off x="6903720" y="386791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300"/>
          </a:p>
        </p:txBody>
      </p:sp>
      <p:sp>
        <p:nvSpPr>
          <p:cNvPr id="98736772" name="Text 30"/>
          <p:cNvSpPr txBox="1"/>
          <p:nvPr/>
        </p:nvSpPr>
        <p:spPr bwMode="auto">
          <a:xfrm>
            <a:off x="7452360" y="3749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Eraser | Printer</a:t>
            </a:r>
            <a:endParaRPr lang="en-US" sz="1300"/>
          </a:p>
        </p:txBody>
      </p:sp>
      <p:sp>
        <p:nvSpPr>
          <p:cNvPr id="1692675959" name="Shape 31"/>
          <p:cNvSpPr/>
          <p:nvPr/>
        </p:nvSpPr>
        <p:spPr bwMode="auto">
          <a:xfrm>
            <a:off x="7086600" y="4343400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33910167" name="Shape 32"/>
          <p:cNvSpPr/>
          <p:nvPr/>
        </p:nvSpPr>
        <p:spPr bwMode="auto">
          <a:xfrm>
            <a:off x="6720840" y="4480560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02451342" name="Shape 33"/>
          <p:cNvSpPr/>
          <p:nvPr/>
        </p:nvSpPr>
        <p:spPr bwMode="auto">
          <a:xfrm>
            <a:off x="6903720" y="4599432"/>
            <a:ext cx="365760" cy="3657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203858781" name="Text 34"/>
          <p:cNvSpPr txBox="1"/>
          <p:nvPr/>
        </p:nvSpPr>
        <p:spPr bwMode="auto">
          <a:xfrm>
            <a:off x="6903720" y="4599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300"/>
          </a:p>
        </p:txBody>
      </p:sp>
      <p:sp>
        <p:nvSpPr>
          <p:cNvPr id="419523185" name="Text 35"/>
          <p:cNvSpPr txBox="1"/>
          <p:nvPr/>
        </p:nvSpPr>
        <p:spPr bwMode="auto">
          <a:xfrm>
            <a:off x="7452360" y="4480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Ruler | Memory</a:t>
            </a:r>
            <a:endParaRPr lang="en-US" sz="1300"/>
          </a:p>
        </p:txBody>
      </p:sp>
      <p:sp>
        <p:nvSpPr>
          <p:cNvPr id="262994123" name="Text 36"/>
          <p:cNvSpPr txBox="1"/>
          <p:nvPr/>
        </p:nvSpPr>
        <p:spPr bwMode="auto">
          <a:xfrm>
            <a:off x="6720840" y="5349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50" i="1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If you're holding the Notebook (2), you may ask for the Eraser (3) — but never the Pen (1). So no loop can ever form!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094832" name="Text 0"/>
          <p:cNvSpPr txBox="1"/>
          <p:nvPr/>
        </p:nvSpPr>
        <p:spPr bwMode="auto"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Comparing the Three Approaches</a:t>
            </a:r>
            <a:endParaRPr lang="en-US" sz="3200"/>
          </a:p>
        </p:txBody>
      </p:sp>
      <p:sp>
        <p:nvSpPr>
          <p:cNvPr id="1950897684" name="Text 1"/>
          <p:cNvSpPr txBox="1"/>
          <p:nvPr/>
        </p:nvSpPr>
        <p:spPr bwMode="auto">
          <a:xfrm>
            <a:off x="640080" y="1097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Quick side-by-side: how safe each approach is, and how much it costs the system.</a:t>
            </a:r>
            <a:endParaRPr lang="en-US" sz="1400"/>
          </a:p>
        </p:txBody>
      </p:sp>
      <p:sp>
        <p:nvSpPr>
          <p:cNvPr id="1893712470" name="Shape 2"/>
          <p:cNvSpPr/>
          <p:nvPr/>
        </p:nvSpPr>
        <p:spPr bwMode="auto">
          <a:xfrm>
            <a:off x="640080" y="1783080"/>
            <a:ext cx="265176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9261578" name="Text 3"/>
          <p:cNvSpPr txBox="1"/>
          <p:nvPr/>
        </p:nvSpPr>
        <p:spPr bwMode="auto">
          <a:xfrm>
            <a:off x="640080" y="1783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</a:t>
            </a:r>
            <a:endParaRPr lang="en-US" sz="1250"/>
          </a:p>
        </p:txBody>
      </p:sp>
      <p:sp>
        <p:nvSpPr>
          <p:cNvPr id="1868823308" name="Shape 4"/>
          <p:cNvSpPr/>
          <p:nvPr/>
        </p:nvSpPr>
        <p:spPr bwMode="auto">
          <a:xfrm>
            <a:off x="3291840" y="1783080"/>
            <a:ext cx="265176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69316699" name="Text 5"/>
          <p:cNvSpPr txBox="1"/>
          <p:nvPr/>
        </p:nvSpPr>
        <p:spPr bwMode="auto">
          <a:xfrm>
            <a:off x="3291840" y="1783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Is Deadlock Possible?</a:t>
            </a:r>
            <a:endParaRPr lang="en-US" sz="1250"/>
          </a:p>
        </p:txBody>
      </p:sp>
      <p:sp>
        <p:nvSpPr>
          <p:cNvPr id="1758441439" name="Shape 6"/>
          <p:cNvSpPr/>
          <p:nvPr/>
        </p:nvSpPr>
        <p:spPr bwMode="auto">
          <a:xfrm>
            <a:off x="5943600" y="1783080"/>
            <a:ext cx="28346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9147477" name="Text 7"/>
          <p:cNvSpPr txBox="1"/>
          <p:nvPr/>
        </p:nvSpPr>
        <p:spPr bwMode="auto">
          <a:xfrm>
            <a:off x="5943600" y="17830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Well Resources Are Used</a:t>
            </a:r>
            <a:endParaRPr lang="en-US" sz="1250"/>
          </a:p>
        </p:txBody>
      </p:sp>
      <p:sp>
        <p:nvSpPr>
          <p:cNvPr id="1806898240" name="Shape 8"/>
          <p:cNvSpPr/>
          <p:nvPr/>
        </p:nvSpPr>
        <p:spPr bwMode="auto">
          <a:xfrm>
            <a:off x="8778240" y="1783080"/>
            <a:ext cx="274320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2046280" name="Text 9"/>
          <p:cNvSpPr txBox="1"/>
          <p:nvPr/>
        </p:nvSpPr>
        <p:spPr bwMode="auto">
          <a:xfrm>
            <a:off x="8778240" y="1783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marL="0" indent="0" algn="l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Extra Work For the System</a:t>
            </a:r>
            <a:endParaRPr lang="en-US" sz="1250"/>
          </a:p>
        </p:txBody>
      </p:sp>
      <p:sp>
        <p:nvSpPr>
          <p:cNvPr id="95427818" name="Shape 10"/>
          <p:cNvSpPr/>
          <p:nvPr/>
        </p:nvSpPr>
        <p:spPr bwMode="auto">
          <a:xfrm>
            <a:off x="640080" y="2350008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1711307923" name="Text 11"/>
          <p:cNvSpPr txBox="1"/>
          <p:nvPr/>
        </p:nvSpPr>
        <p:spPr bwMode="auto">
          <a:xfrm>
            <a:off x="640080" y="23500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Prevention</a:t>
            </a:r>
            <a:endParaRPr lang="en-US" sz="1200"/>
          </a:p>
        </p:txBody>
      </p:sp>
      <p:sp>
        <p:nvSpPr>
          <p:cNvPr id="95718114" name="Shape 12"/>
          <p:cNvSpPr/>
          <p:nvPr/>
        </p:nvSpPr>
        <p:spPr bwMode="auto">
          <a:xfrm>
            <a:off x="3291840" y="2350008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1715359771" name="Text 13"/>
          <p:cNvSpPr txBox="1"/>
          <p:nvPr/>
        </p:nvSpPr>
        <p:spPr bwMode="auto">
          <a:xfrm>
            <a:off x="3291840" y="23500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Never — it's impossible</a:t>
            </a:r>
            <a:endParaRPr lang="en-US" sz="1200"/>
          </a:p>
        </p:txBody>
      </p:sp>
      <p:sp>
        <p:nvSpPr>
          <p:cNvPr id="1597245151" name="Shape 14"/>
          <p:cNvSpPr/>
          <p:nvPr/>
        </p:nvSpPr>
        <p:spPr bwMode="auto">
          <a:xfrm>
            <a:off x="5943600" y="2350008"/>
            <a:ext cx="2834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1718067485" name="Text 15"/>
          <p:cNvSpPr txBox="1"/>
          <p:nvPr/>
        </p:nvSpPr>
        <p:spPr bwMode="auto">
          <a:xfrm>
            <a:off x="5943600" y="23500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Low — plays it too safe</a:t>
            </a:r>
            <a:endParaRPr lang="en-US" sz="1200"/>
          </a:p>
        </p:txBody>
      </p:sp>
      <p:sp>
        <p:nvSpPr>
          <p:cNvPr id="1181556561" name="Shape 16"/>
          <p:cNvSpPr/>
          <p:nvPr/>
        </p:nvSpPr>
        <p:spPr bwMode="auto">
          <a:xfrm>
            <a:off x="8778240" y="2350008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1219346026" name="Text 17"/>
          <p:cNvSpPr txBox="1"/>
          <p:nvPr/>
        </p:nvSpPr>
        <p:spPr bwMode="auto">
          <a:xfrm>
            <a:off x="8778240" y="23500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Low — rules are set in advance</a:t>
            </a:r>
            <a:endParaRPr lang="en-US" sz="1200"/>
          </a:p>
        </p:txBody>
      </p:sp>
      <p:sp>
        <p:nvSpPr>
          <p:cNvPr id="1690263650" name="Shape 18"/>
          <p:cNvSpPr/>
          <p:nvPr/>
        </p:nvSpPr>
        <p:spPr bwMode="auto">
          <a:xfrm>
            <a:off x="640080" y="2916936"/>
            <a:ext cx="2651760" cy="566928"/>
          </a:xfrm>
          <a:prstGeom prst="rect">
            <a:avLst/>
          </a:prstGeom>
          <a:solidFill>
            <a:srgbClr val="EEF1FA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209308613" name="Text 19"/>
          <p:cNvSpPr txBox="1"/>
          <p:nvPr/>
        </p:nvSpPr>
        <p:spPr bwMode="auto">
          <a:xfrm>
            <a:off x="640080" y="29169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Avoidance</a:t>
            </a:r>
            <a:endParaRPr lang="en-US" sz="1200"/>
          </a:p>
        </p:txBody>
      </p:sp>
      <p:sp>
        <p:nvSpPr>
          <p:cNvPr id="933736826" name="Shape 20"/>
          <p:cNvSpPr/>
          <p:nvPr/>
        </p:nvSpPr>
        <p:spPr bwMode="auto">
          <a:xfrm>
            <a:off x="3291840" y="2916936"/>
            <a:ext cx="2651760" cy="566928"/>
          </a:xfrm>
          <a:prstGeom prst="rect">
            <a:avLst/>
          </a:prstGeom>
          <a:solidFill>
            <a:srgbClr val="EEF1FA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2104991317" name="Text 21"/>
          <p:cNvSpPr txBox="1"/>
          <p:nvPr/>
        </p:nvSpPr>
        <p:spPr bwMode="auto">
          <a:xfrm>
            <a:off x="3291840" y="29169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Never — it's impossible</a:t>
            </a:r>
            <a:endParaRPr lang="en-US" sz="1200"/>
          </a:p>
        </p:txBody>
      </p:sp>
      <p:sp>
        <p:nvSpPr>
          <p:cNvPr id="621246996" name="Shape 22"/>
          <p:cNvSpPr/>
          <p:nvPr/>
        </p:nvSpPr>
        <p:spPr bwMode="auto">
          <a:xfrm>
            <a:off x="5943600" y="2916936"/>
            <a:ext cx="2834640" cy="566928"/>
          </a:xfrm>
          <a:prstGeom prst="rect">
            <a:avLst/>
          </a:prstGeom>
          <a:solidFill>
            <a:srgbClr val="EEF1FA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1510807585" name="Text 23"/>
          <p:cNvSpPr txBox="1"/>
          <p:nvPr/>
        </p:nvSpPr>
        <p:spPr bwMode="auto">
          <a:xfrm>
            <a:off x="5943600" y="2916936"/>
            <a:ext cx="28346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Better — more flexible</a:t>
            </a:r>
            <a:endParaRPr lang="en-US" sz="1200"/>
          </a:p>
        </p:txBody>
      </p:sp>
      <p:sp>
        <p:nvSpPr>
          <p:cNvPr id="271179107" name="Shape 24"/>
          <p:cNvSpPr/>
          <p:nvPr/>
        </p:nvSpPr>
        <p:spPr bwMode="auto">
          <a:xfrm>
            <a:off x="8778240" y="2916936"/>
            <a:ext cx="2743200" cy="566928"/>
          </a:xfrm>
          <a:prstGeom prst="rect">
            <a:avLst/>
          </a:prstGeom>
          <a:solidFill>
            <a:srgbClr val="EEF1FA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1739587888" name="Text 25"/>
          <p:cNvSpPr txBox="1"/>
          <p:nvPr/>
        </p:nvSpPr>
        <p:spPr bwMode="auto">
          <a:xfrm>
            <a:off x="8778240" y="29169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Some — checks every request</a:t>
            </a:r>
            <a:endParaRPr lang="en-US" sz="1200"/>
          </a:p>
        </p:txBody>
      </p:sp>
      <p:sp>
        <p:nvSpPr>
          <p:cNvPr id="582246660" name="Shape 26"/>
          <p:cNvSpPr/>
          <p:nvPr/>
        </p:nvSpPr>
        <p:spPr bwMode="auto">
          <a:xfrm>
            <a:off x="640080" y="3483864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1969911359" name="Text 27"/>
          <p:cNvSpPr txBox="1"/>
          <p:nvPr/>
        </p:nvSpPr>
        <p:spPr bwMode="auto">
          <a:xfrm>
            <a:off x="640080" y="34838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Detection &amp; Recovery</a:t>
            </a:r>
            <a:endParaRPr lang="en-US" sz="1200"/>
          </a:p>
        </p:txBody>
      </p:sp>
      <p:sp>
        <p:nvSpPr>
          <p:cNvPr id="764824095" name="Shape 28"/>
          <p:cNvSpPr/>
          <p:nvPr/>
        </p:nvSpPr>
        <p:spPr bwMode="auto">
          <a:xfrm>
            <a:off x="3291840" y="3483864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1244958001" name="Text 29"/>
          <p:cNvSpPr txBox="1"/>
          <p:nvPr/>
        </p:nvSpPr>
        <p:spPr bwMode="auto">
          <a:xfrm>
            <a:off x="3291840" y="34838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Yes, but it's fixed after</a:t>
            </a:r>
            <a:endParaRPr lang="en-US" sz="1200"/>
          </a:p>
        </p:txBody>
      </p:sp>
      <p:sp>
        <p:nvSpPr>
          <p:cNvPr id="1385069015" name="Shape 30"/>
          <p:cNvSpPr/>
          <p:nvPr/>
        </p:nvSpPr>
        <p:spPr bwMode="auto">
          <a:xfrm>
            <a:off x="5943600" y="3483864"/>
            <a:ext cx="2834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283503986" name="Text 31"/>
          <p:cNvSpPr txBox="1"/>
          <p:nvPr/>
        </p:nvSpPr>
        <p:spPr bwMode="auto">
          <a:xfrm>
            <a:off x="5943600" y="3483864"/>
            <a:ext cx="28346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Best — no restrictions at all</a:t>
            </a:r>
            <a:endParaRPr lang="en-US" sz="1200"/>
          </a:p>
        </p:txBody>
      </p:sp>
      <p:sp>
        <p:nvSpPr>
          <p:cNvPr id="1184058524" name="Shape 32"/>
          <p:cNvSpPr/>
          <p:nvPr/>
        </p:nvSpPr>
        <p:spPr bwMode="auto">
          <a:xfrm>
            <a:off x="8778240" y="3483864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3F2"/>
            </a:solidFill>
            <a:prstDash val="solid"/>
          </a:ln>
        </p:spPr>
      </p:sp>
      <p:sp>
        <p:nvSpPr>
          <p:cNvPr id="836035208" name="Text 33"/>
          <p:cNvSpPr txBox="1"/>
          <p:nvPr/>
        </p:nvSpPr>
        <p:spPr bwMode="auto">
          <a:xfrm>
            <a:off x="8778240" y="34838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B1F3B"/>
                </a:solidFill>
                <a:latin typeface="Calibri"/>
                <a:ea typeface="Calibri"/>
                <a:cs typeface="Calibri"/>
              </a:rPr>
              <a:t>Only when fixing a deadlock</a:t>
            </a:r>
            <a:endParaRPr lang="en-US" sz="1200"/>
          </a:p>
        </p:txBody>
      </p:sp>
      <p:sp>
        <p:nvSpPr>
          <p:cNvPr id="1301889009" name="Text 34"/>
          <p:cNvSpPr txBox="1"/>
          <p:nvPr/>
        </p:nvSpPr>
        <p:spPr bwMode="auto">
          <a:xfrm>
            <a:off x="640080" y="43708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5B6270"/>
                </a:solidFill>
                <a:latin typeface="Calibri"/>
                <a:ea typeface="Calibri"/>
                <a:cs typeface="Calibri"/>
              </a:rPr>
              <a:t>In short: Prevention is the safest but most careful choice — it never lets a deadlock happen, even if that means being a little wasteful.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:blinds dir="horz"/>
      </p:transition>
    </mc:Choice>
    <mc:Fallback>
      <p:transition spd="slow" advClick="1">
        <p:blinds dir="horz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711486" name="Shape 0"/>
          <p:cNvSpPr/>
          <p:nvPr/>
        </p:nvSpPr>
        <p:spPr bwMode="auto">
          <a:xfrm>
            <a:off x="-1463040" y="-1645920"/>
            <a:ext cx="4114800" cy="41148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1223373734" name="Text 1"/>
          <p:cNvSpPr txBox="1"/>
          <p:nvPr/>
        </p:nvSpPr>
        <p:spPr bwMode="auto">
          <a:xfrm>
            <a:off x="82296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Key Takeaways</a:t>
            </a:r>
            <a:endParaRPr lang="en-US" sz="3400"/>
          </a:p>
        </p:txBody>
      </p:sp>
      <p:sp>
        <p:nvSpPr>
          <p:cNvPr id="904918201" name="Shape 2"/>
          <p:cNvSpPr/>
          <p:nvPr/>
        </p:nvSpPr>
        <p:spPr bwMode="auto">
          <a:xfrm>
            <a:off x="868680" y="1417320"/>
            <a:ext cx="1280160" cy="0"/>
          </a:xfrm>
          <a:prstGeom prst="line">
            <a:avLst/>
          </a:prstGeom>
          <a:noFill/>
          <a:ln w="38100">
            <a:solidFill>
              <a:srgbClr val="E8543E"/>
            </a:solidFill>
            <a:prstDash val="solid"/>
          </a:ln>
        </p:spPr>
      </p:sp>
      <p:sp>
        <p:nvSpPr>
          <p:cNvPr id="1748757968" name="Shape 3"/>
          <p:cNvSpPr/>
          <p:nvPr/>
        </p:nvSpPr>
        <p:spPr bwMode="auto">
          <a:xfrm>
            <a:off x="82296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543E"/>
          </a:solidFill>
          <a:ln/>
        </p:spPr>
      </p:sp>
      <p:sp>
        <p:nvSpPr>
          <p:cNvPr id="253676770" name="Text 4"/>
          <p:cNvSpPr txBox="1"/>
          <p:nvPr/>
        </p:nvSpPr>
        <p:spPr bwMode="auto"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600"/>
          </a:p>
        </p:txBody>
      </p:sp>
      <p:sp>
        <p:nvSpPr>
          <p:cNvPr id="135265681" name="Text 5"/>
          <p:cNvSpPr txBox="1"/>
          <p:nvPr/>
        </p:nvSpPr>
        <p:spPr bwMode="auto">
          <a:xfrm>
            <a:off x="1463040" y="18288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4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Deadlock = everyone waiting on someone else, forever. Think Hari and Thameem stuck with the Pen and Ruler.</a:t>
            </a:r>
            <a:endParaRPr lang="en-US" sz="1450"/>
          </a:p>
        </p:txBody>
      </p:sp>
      <p:sp>
        <p:nvSpPr>
          <p:cNvPr id="766007887" name="Shape 6"/>
          <p:cNvSpPr/>
          <p:nvPr/>
        </p:nvSpPr>
        <p:spPr bwMode="auto">
          <a:xfrm>
            <a:off x="822960" y="2926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543E"/>
          </a:solidFill>
          <a:ln/>
        </p:spPr>
      </p:sp>
      <p:sp>
        <p:nvSpPr>
          <p:cNvPr id="1888233211" name="Text 7"/>
          <p:cNvSpPr txBox="1"/>
          <p:nvPr/>
        </p:nvSpPr>
        <p:spPr bwMode="auto">
          <a:xfrm>
            <a:off x="8229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600"/>
          </a:p>
        </p:txBody>
      </p:sp>
      <p:sp>
        <p:nvSpPr>
          <p:cNvPr id="2119918663" name="Text 8"/>
          <p:cNvSpPr txBox="1"/>
          <p:nvPr/>
        </p:nvSpPr>
        <p:spPr bwMode="auto">
          <a:xfrm>
            <a:off x="1463040" y="28803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4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It only happens when all 4 conditions are true together: mutual exclusion, hold-and-wait, no preemption, and circular wait.</a:t>
            </a:r>
            <a:endParaRPr lang="en-US" sz="1450"/>
          </a:p>
        </p:txBody>
      </p:sp>
      <p:sp>
        <p:nvSpPr>
          <p:cNvPr id="694253901" name="Shape 9"/>
          <p:cNvSpPr/>
          <p:nvPr/>
        </p:nvSpPr>
        <p:spPr bwMode="auto">
          <a:xfrm>
            <a:off x="822960" y="3977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543E"/>
          </a:solidFill>
          <a:ln/>
        </p:spPr>
      </p:sp>
      <p:sp>
        <p:nvSpPr>
          <p:cNvPr id="1024630737" name="Text 10"/>
          <p:cNvSpPr txBox="1"/>
          <p:nvPr/>
        </p:nvSpPr>
        <p:spPr bwMode="auto"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600"/>
          </a:p>
        </p:txBody>
      </p:sp>
      <p:sp>
        <p:nvSpPr>
          <p:cNvPr id="1788120598" name="Text 11"/>
          <p:cNvSpPr txBox="1"/>
          <p:nvPr/>
        </p:nvSpPr>
        <p:spPr bwMode="auto">
          <a:xfrm>
            <a:off x="1463040" y="39319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4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Prevention works by breaking just ONE condition — then deadlock simply can't happen.</a:t>
            </a:r>
            <a:endParaRPr lang="en-US" sz="1450"/>
          </a:p>
        </p:txBody>
      </p:sp>
      <p:sp>
        <p:nvSpPr>
          <p:cNvPr id="1896181261" name="Shape 12"/>
          <p:cNvSpPr/>
          <p:nvPr/>
        </p:nvSpPr>
        <p:spPr bwMode="auto">
          <a:xfrm>
            <a:off x="822960" y="5029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543E"/>
          </a:solidFill>
          <a:ln/>
        </p:spPr>
      </p:sp>
      <p:sp>
        <p:nvSpPr>
          <p:cNvPr id="1670904422" name="Text 13"/>
          <p:cNvSpPr txBox="1"/>
          <p:nvPr/>
        </p:nvSpPr>
        <p:spPr bwMode="auto">
          <a:xfrm>
            <a:off x="8229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600"/>
          </a:p>
        </p:txBody>
      </p:sp>
      <p:sp>
        <p:nvSpPr>
          <p:cNvPr id="2058532287" name="Text 14"/>
          <p:cNvSpPr txBox="1"/>
          <p:nvPr/>
        </p:nvSpPr>
        <p:spPr bwMode="auto">
          <a:xfrm>
            <a:off x="1463040" y="498348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4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easiest fix in real systems? Give every resource a number and request them in order — that kills circular wait.</a:t>
            </a:r>
            <a:endParaRPr lang="en-US" sz="1450"/>
          </a:p>
        </p:txBody>
      </p:sp>
      <p:sp>
        <p:nvSpPr>
          <p:cNvPr id="1229663415" name="Text 15"/>
          <p:cNvSpPr txBox="1"/>
          <p:nvPr/>
        </p:nvSpPr>
        <p:spPr bwMode="auto">
          <a:xfrm>
            <a:off x="822960" y="6263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i="1">
                <a:solidFill>
                  <a:srgbClr val="AEB9E8"/>
                </a:solidFill>
                <a:latin typeface="Cambria"/>
                <a:ea typeface="Cambria"/>
                <a:cs typeface="Cambria"/>
              </a:rPr>
              <a:t>Thank you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:wipe dir="r"/>
      </p:transition>
    </mc:Choice>
    <mc:Fallback>
      <p:transition spd="slow" advClick="1">
        <p:wipe dir="r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50953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303249" y="300748"/>
            <a:ext cx="11509374" cy="6232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2026-09-20T08:07:59Z</dcterms:created>
  <dcterms:modified xsi:type="dcterms:W3CDTF">2026-09-20T09:18:42Z</dcterms:modified>
</cp:coreProperties>
</file>