
<file path=[Content_Types].xml><?xml version="1.0" encoding="utf-8"?>
<Types xmlns="http://schemas.openxmlformats.org/package/2006/content-types">
  <Default Extension="xml" ContentType="application/xml"/>
  <Default Extension="webm" ContentType="video/webm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5072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3380025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4503068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3847189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5386394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296542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5744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2136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4022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39912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33828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289255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4803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5686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5969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5544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32907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71907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5623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8759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6830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374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96928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875686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40234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2307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5441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6926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52997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231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1789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18119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21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C2467B-054E-C13F-3087-9B00E49AF36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microsoft.com/office/2007/relationships/media" Target="../media/media1.webm"/><Relationship Id="rId5" Type="http://schemas.openxmlformats.org/officeDocument/2006/relationships/video" Target="../media/media1.webm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797868" name="Shape 0"/>
          <p:cNvSpPr/>
          <p:nvPr/>
        </p:nvSpPr>
        <p:spPr bwMode="auto">
          <a:xfrm>
            <a:off x="9692640" y="-1280160"/>
            <a:ext cx="3840480" cy="3840480"/>
          </a:xfrm>
          <a:prstGeom prst="ellipse">
            <a:avLst/>
          </a:prstGeom>
          <a:solidFill>
            <a:srgbClr val="26317A"/>
          </a:solidFill>
          <a:ln/>
        </p:spPr>
      </p:sp>
      <p:sp>
        <p:nvSpPr>
          <p:cNvPr id="468325166" name="Shape 1"/>
          <p:cNvSpPr/>
          <p:nvPr/>
        </p:nvSpPr>
        <p:spPr bwMode="auto">
          <a:xfrm>
            <a:off x="10607040" y="4206240"/>
            <a:ext cx="2743200" cy="2743200"/>
          </a:xfrm>
          <a:prstGeom prst="ellipse">
            <a:avLst/>
          </a:prstGeom>
          <a:solidFill>
            <a:srgbClr val="26317A"/>
          </a:solidFill>
          <a:ln/>
        </p:spPr>
      </p:sp>
      <p:sp>
        <p:nvSpPr>
          <p:cNvPr id="1179218516" name="Shape 2"/>
          <p:cNvSpPr/>
          <p:nvPr/>
        </p:nvSpPr>
        <p:spPr bwMode="auto">
          <a:xfrm>
            <a:off x="9857232" y="530352"/>
            <a:ext cx="402336" cy="402336"/>
          </a:xfrm>
          <a:prstGeom prst="ellipse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89319754" name="Shape 3"/>
          <p:cNvSpPr/>
          <p:nvPr/>
        </p:nvSpPr>
        <p:spPr bwMode="auto">
          <a:xfrm>
            <a:off x="10543032" y="1216151"/>
            <a:ext cx="402336" cy="402336"/>
          </a:xfrm>
          <a:prstGeom prst="ellipse">
            <a:avLst/>
          </a:prstGeom>
          <a:solidFill>
            <a:srgbClr val="E854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58118643" name="Shape 4"/>
          <p:cNvSpPr/>
          <p:nvPr/>
        </p:nvSpPr>
        <p:spPr bwMode="auto">
          <a:xfrm>
            <a:off x="9857232" y="1901952"/>
            <a:ext cx="402336" cy="402336"/>
          </a:xfrm>
          <a:prstGeom prst="ellipse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5487982" name="Shape 5"/>
          <p:cNvSpPr/>
          <p:nvPr/>
        </p:nvSpPr>
        <p:spPr bwMode="auto">
          <a:xfrm>
            <a:off x="9171432" y="1216151"/>
            <a:ext cx="402336" cy="402336"/>
          </a:xfrm>
          <a:prstGeom prst="ellipse">
            <a:avLst/>
          </a:prstGeom>
          <a:solidFill>
            <a:srgbClr val="E854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4435544" name="Text 6"/>
          <p:cNvSpPr txBox="1"/>
          <p:nvPr/>
        </p:nvSpPr>
        <p:spPr bwMode="auto"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OPERATING SYSTEMS</a:t>
            </a:r>
            <a:endParaRPr lang="en-US" sz="1400"/>
          </a:p>
        </p:txBody>
      </p:sp>
      <p:sp>
        <p:nvSpPr>
          <p:cNvPr id="1337388690" name="Text 7"/>
          <p:cNvSpPr txBox="1"/>
          <p:nvPr/>
        </p:nvSpPr>
        <p:spPr bwMode="auto">
          <a:xfrm>
            <a:off x="777240" y="233172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Deadlock</a:t>
            </a:r>
            <a:endParaRPr lang="en-US" sz="6000"/>
          </a:p>
        </p:txBody>
      </p:sp>
      <p:sp>
        <p:nvSpPr>
          <p:cNvPr id="857990671" name="Text 8"/>
          <p:cNvSpPr txBox="1"/>
          <p:nvPr/>
        </p:nvSpPr>
        <p:spPr bwMode="auto">
          <a:xfrm>
            <a:off x="82296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What It Is &amp; How to Stop It — With Everyday Examples</a:t>
            </a:r>
            <a:endParaRPr lang="en-US" sz="2000"/>
          </a:p>
        </p:txBody>
      </p:sp>
      <p:sp>
        <p:nvSpPr>
          <p:cNvPr id="201256645" name="Shape 9"/>
          <p:cNvSpPr/>
          <p:nvPr/>
        </p:nvSpPr>
        <p:spPr bwMode="auto">
          <a:xfrm>
            <a:off x="822960" y="4160519"/>
            <a:ext cx="1280160" cy="0"/>
          </a:xfrm>
          <a:prstGeom prst="line">
            <a:avLst/>
          </a:prstGeom>
          <a:noFill/>
          <a:ln w="38100">
            <a:solidFill>
              <a:srgbClr val="E8543E"/>
            </a:solidFill>
            <a:prstDash val="solid"/>
          </a:ln>
        </p:spPr>
      </p:sp>
      <p:sp>
        <p:nvSpPr>
          <p:cNvPr id="1524098367" name="Text 10"/>
          <p:cNvSpPr txBox="1"/>
          <p:nvPr/>
        </p:nvSpPr>
        <p:spPr bwMode="auto">
          <a:xfrm>
            <a:off x="822960" y="4389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AEB9E8"/>
                </a:solidFill>
                <a:latin typeface="Calibri"/>
                <a:ea typeface="Calibri"/>
                <a:cs typeface="Calibri"/>
              </a:rPr>
              <a:t>When two programs get stuck waiting for each other forever — like two people</a:t>
            </a:r>
            <a:endParaRPr lang="en-US" sz="1300"/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AEB9E8"/>
                </a:solidFill>
                <a:latin typeface="Calibri"/>
                <a:ea typeface="Calibri"/>
                <a:cs typeface="Calibri"/>
              </a:rPr>
              <a:t>each waiting for the other to move first. Here's why it happens and how to fix it.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:fade thruBlk="0"/>
      </p:transition>
    </mc:Choice>
    <mc:Fallback>
      <p:transition spd="slow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7F8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7743" name="Text 0"/>
          <p:cNvSpPr txBox="1"/>
          <p:nvPr/>
        </p:nvSpPr>
        <p:spPr bwMode="auto"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What Is a Deadlock?</a:t>
            </a:r>
            <a:endParaRPr lang="en-US" sz="3200"/>
          </a:p>
        </p:txBody>
      </p:sp>
      <p:sp>
        <p:nvSpPr>
          <p:cNvPr id="967823334" name="Text 1"/>
          <p:cNvSpPr txBox="1"/>
          <p:nvPr/>
        </p:nvSpPr>
        <p:spPr bwMode="auto">
          <a:xfrm>
            <a:off x="640080" y="11430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In simple words: a deadlock is when two (or more) programs each hold something the other needs, and both just wait forever. No one gives up what they have, so nothing ever happens.</a:t>
            </a:r>
            <a:endParaRPr lang="en-US" sz="1450"/>
          </a:p>
        </p:txBody>
      </p:sp>
      <p:sp>
        <p:nvSpPr>
          <p:cNvPr id="73321011" name="Shape 2"/>
          <p:cNvSpPr/>
          <p:nvPr/>
        </p:nvSpPr>
        <p:spPr bwMode="auto">
          <a:xfrm>
            <a:off x="640080" y="2569464"/>
            <a:ext cx="91440" cy="9144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963890117" name="Text 3"/>
          <p:cNvSpPr txBox="1"/>
          <p:nvPr/>
        </p:nvSpPr>
        <p:spPr bwMode="auto">
          <a:xfrm>
            <a:off x="896112" y="23865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Every program in the group is stuck waiting</a:t>
            </a:r>
            <a:endParaRPr lang="en-US" sz="1350"/>
          </a:p>
        </p:txBody>
      </p:sp>
      <p:sp>
        <p:nvSpPr>
          <p:cNvPr id="826385753" name="Shape 4"/>
          <p:cNvSpPr/>
          <p:nvPr/>
        </p:nvSpPr>
        <p:spPr bwMode="auto">
          <a:xfrm>
            <a:off x="640080" y="3072384"/>
            <a:ext cx="91440" cy="9144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259233759" name="Text 5"/>
          <p:cNvSpPr txBox="1"/>
          <p:nvPr/>
        </p:nvSpPr>
        <p:spPr bwMode="auto">
          <a:xfrm>
            <a:off x="896112" y="2889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 one lets go of what they're already holding</a:t>
            </a:r>
            <a:endParaRPr lang="en-US" sz="1350"/>
          </a:p>
        </p:txBody>
      </p:sp>
      <p:sp>
        <p:nvSpPr>
          <p:cNvPr id="932572645" name="Shape 6"/>
          <p:cNvSpPr/>
          <p:nvPr/>
        </p:nvSpPr>
        <p:spPr bwMode="auto">
          <a:xfrm>
            <a:off x="640080" y="3575303"/>
            <a:ext cx="91440" cy="9144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724000585" name="Text 7"/>
          <p:cNvSpPr txBox="1"/>
          <p:nvPr/>
        </p:nvSpPr>
        <p:spPr bwMode="auto">
          <a:xfrm>
            <a:off x="896112" y="33924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Nothing outside can wake them up</a:t>
            </a:r>
            <a:endParaRPr lang="en-US" sz="1350"/>
          </a:p>
        </p:txBody>
      </p:sp>
      <p:sp>
        <p:nvSpPr>
          <p:cNvPr id="1686277285" name="Shape 8"/>
          <p:cNvSpPr/>
          <p:nvPr/>
        </p:nvSpPr>
        <p:spPr bwMode="auto">
          <a:xfrm>
            <a:off x="640080" y="4078224"/>
            <a:ext cx="91440" cy="9144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930785411" name="Text 9"/>
          <p:cNvSpPr txBox="1"/>
          <p:nvPr/>
        </p:nvSpPr>
        <p:spPr bwMode="auto">
          <a:xfrm>
            <a:off x="896112" y="3895343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The whole group is frozen — forever</a:t>
            </a:r>
            <a:endParaRPr lang="en-US" sz="1350"/>
          </a:p>
        </p:txBody>
      </p:sp>
      <p:sp>
        <p:nvSpPr>
          <p:cNvPr id="777345478" name="Shape 10"/>
          <p:cNvSpPr/>
          <p:nvPr/>
        </p:nvSpPr>
        <p:spPr bwMode="auto">
          <a:xfrm>
            <a:off x="640080" y="4663440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BEAE7"/>
          </a:solidFill>
          <a:ln w="12700">
            <a:solidFill>
              <a:srgbClr val="E8543E"/>
            </a:solidFill>
            <a:prstDash val="solid"/>
          </a:ln>
        </p:spPr>
      </p:sp>
      <p:sp>
        <p:nvSpPr>
          <p:cNvPr id="109012755" name="Text 11"/>
          <p:cNvSpPr txBox="1"/>
          <p:nvPr/>
        </p:nvSpPr>
        <p:spPr bwMode="auto">
          <a:xfrm>
            <a:off x="868680" y="48280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100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REAL-LIFE EXAMPLE</a:t>
            </a:r>
            <a:endParaRPr lang="en-US" sz="1100"/>
          </a:p>
        </p:txBody>
      </p:sp>
      <p:sp>
        <p:nvSpPr>
          <p:cNvPr id="687615085" name="Text 12"/>
          <p:cNvSpPr txBox="1"/>
          <p:nvPr/>
        </p:nvSpPr>
        <p:spPr bwMode="auto">
          <a:xfrm>
            <a:off x="868680" y="513892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is holding a Pen and needs a Notebook. Thameem is holding the Ruler and needs the Pen. Neither will let go first — so both just sit there waiting. That's a deadlock!</a:t>
            </a:r>
            <a:endParaRPr lang="en-US" sz="1250"/>
          </a:p>
        </p:txBody>
      </p:sp>
      <p:sp>
        <p:nvSpPr>
          <p:cNvPr id="2127524362" name="Shape 13"/>
          <p:cNvSpPr/>
          <p:nvPr/>
        </p:nvSpPr>
        <p:spPr bwMode="auto">
          <a:xfrm>
            <a:off x="7360920" y="1417320"/>
            <a:ext cx="1143000" cy="1143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67875463" name="Text 14"/>
          <p:cNvSpPr txBox="1"/>
          <p:nvPr/>
        </p:nvSpPr>
        <p:spPr bwMode="auto">
          <a:xfrm>
            <a:off x="7360920" y="14173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Hari</a:t>
            </a:r>
            <a:endParaRPr lang="en-US" sz="1500"/>
          </a:p>
        </p:txBody>
      </p:sp>
      <p:sp>
        <p:nvSpPr>
          <p:cNvPr id="1682788186" name="Shape 15"/>
          <p:cNvSpPr/>
          <p:nvPr/>
        </p:nvSpPr>
        <p:spPr bwMode="auto">
          <a:xfrm>
            <a:off x="9464040" y="1554480"/>
            <a:ext cx="1874520" cy="868680"/>
          </a:xfrm>
          <a:prstGeom prst="roundRect">
            <a:avLst>
              <a:gd name="adj" fmla="val 10526"/>
            </a:avLst>
          </a:prstGeom>
          <a:solidFill>
            <a:srgbClr val="E8543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5420855" name="Text 16"/>
          <p:cNvSpPr txBox="1"/>
          <p:nvPr/>
        </p:nvSpPr>
        <p:spPr bwMode="auto">
          <a:xfrm>
            <a:off x="9464040" y="15544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Ruler</a:t>
            </a:r>
            <a:endParaRPr lang="en-US" sz="1300"/>
          </a:p>
        </p:txBody>
      </p:sp>
      <p:sp>
        <p:nvSpPr>
          <p:cNvPr id="1351364132" name="Shape 17"/>
          <p:cNvSpPr/>
          <p:nvPr/>
        </p:nvSpPr>
        <p:spPr bwMode="auto">
          <a:xfrm>
            <a:off x="9692640" y="3977640"/>
            <a:ext cx="1143000" cy="1143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9823048" name="Text 18"/>
          <p:cNvSpPr txBox="1"/>
          <p:nvPr/>
        </p:nvSpPr>
        <p:spPr bwMode="auto">
          <a:xfrm>
            <a:off x="9692640" y="39776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Thameem</a:t>
            </a:r>
            <a:endParaRPr lang="en-US" sz="1500"/>
          </a:p>
        </p:txBody>
      </p:sp>
      <p:sp>
        <p:nvSpPr>
          <p:cNvPr id="1229310616" name="Shape 19"/>
          <p:cNvSpPr/>
          <p:nvPr/>
        </p:nvSpPr>
        <p:spPr bwMode="auto">
          <a:xfrm>
            <a:off x="7086600" y="4114800"/>
            <a:ext cx="1874520" cy="868680"/>
          </a:xfrm>
          <a:prstGeom prst="roundRect">
            <a:avLst>
              <a:gd name="adj" fmla="val 10526"/>
            </a:avLst>
          </a:prstGeom>
          <a:solidFill>
            <a:srgbClr val="E8543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03192600" name="Text 20"/>
          <p:cNvSpPr txBox="1"/>
          <p:nvPr/>
        </p:nvSpPr>
        <p:spPr bwMode="auto">
          <a:xfrm>
            <a:off x="7086600" y="411480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Pen</a:t>
            </a:r>
            <a:endParaRPr lang="en-US" sz="1300"/>
          </a:p>
        </p:txBody>
      </p:sp>
      <p:sp>
        <p:nvSpPr>
          <p:cNvPr id="1041206053" name="Shape 21"/>
          <p:cNvSpPr/>
          <p:nvPr/>
        </p:nvSpPr>
        <p:spPr bwMode="auto">
          <a:xfrm flipH="0" flipV="0">
            <a:off x="8503919" y="1988820"/>
            <a:ext cx="77724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560190729" name="Shape 22"/>
          <p:cNvSpPr/>
          <p:nvPr/>
        </p:nvSpPr>
        <p:spPr bwMode="auto">
          <a:xfrm>
            <a:off x="10401300" y="2423160"/>
            <a:ext cx="0" cy="155448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1615874967" name="Shape 23"/>
          <p:cNvSpPr/>
          <p:nvPr/>
        </p:nvSpPr>
        <p:spPr bwMode="auto">
          <a:xfrm>
            <a:off x="9692640" y="4549140"/>
            <a:ext cx="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1778731204" name="Shape 24"/>
          <p:cNvSpPr/>
          <p:nvPr/>
        </p:nvSpPr>
        <p:spPr bwMode="auto">
          <a:xfrm>
            <a:off x="8001000" y="4114800"/>
            <a:ext cx="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2143617567" name="Text 25"/>
          <p:cNvSpPr txBox="1"/>
          <p:nvPr/>
        </p:nvSpPr>
        <p:spPr bwMode="auto">
          <a:xfrm>
            <a:off x="6858000" y="5257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Hari wants the Ruler (held by Thameem) · Thameem wants the Pen (held by Hari)</a:t>
            </a:r>
            <a:endParaRPr lang="en-US" sz="1150"/>
          </a:p>
        </p:txBody>
      </p:sp>
      <p:sp>
        <p:nvSpPr>
          <p:cNvPr id="712432649" name="Shape 21"/>
          <p:cNvSpPr/>
          <p:nvPr/>
        </p:nvSpPr>
        <p:spPr bwMode="auto">
          <a:xfrm flipH="0" flipV="1">
            <a:off x="7932420" y="2569463"/>
            <a:ext cx="0" cy="155448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805167387" name=""/>
          <p:cNvSpPr txBox="1"/>
          <p:nvPr/>
        </p:nvSpPr>
        <p:spPr bwMode="auto">
          <a:xfrm rot="0" flipH="0" flipV="0">
            <a:off x="8503919" y="1915583"/>
            <a:ext cx="100053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request</a:t>
            </a:r>
            <a:endParaRPr/>
          </a:p>
        </p:txBody>
      </p:sp>
      <p:sp>
        <p:nvSpPr>
          <p:cNvPr id="816645398" name=""/>
          <p:cNvSpPr txBox="1"/>
          <p:nvPr/>
        </p:nvSpPr>
        <p:spPr bwMode="auto">
          <a:xfrm rot="10800000" flipH="0" flipV="0">
            <a:off x="7543440" y="2969999"/>
            <a:ext cx="457560" cy="918000"/>
          </a:xfrm>
          <a:prstGeom prst="rect">
            <a:avLst/>
          </a:prstGeom>
          <a:noFill/>
        </p:spPr>
        <p:txBody>
          <a:bodyPr vertOverflow="overflow" horzOverflow="overflow" vert="vert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hold</a:t>
            </a:r>
            <a:endParaRPr/>
          </a:p>
        </p:txBody>
      </p:sp>
      <p:sp>
        <p:nvSpPr>
          <p:cNvPr id="181050168" name=""/>
          <p:cNvSpPr txBox="1"/>
          <p:nvPr/>
        </p:nvSpPr>
        <p:spPr bwMode="auto">
          <a:xfrm rot="0" flipH="0" flipV="0">
            <a:off x="10401300" y="2795903"/>
            <a:ext cx="457560" cy="918720"/>
          </a:xfrm>
          <a:prstGeom prst="rect">
            <a:avLst/>
          </a:prstGeom>
          <a:noFill/>
        </p:spPr>
        <p:txBody>
          <a:bodyPr vertOverflow="overflow" horzOverflow="overflow" vert="vert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hold</a:t>
            </a:r>
            <a:endParaRPr/>
          </a:p>
        </p:txBody>
      </p:sp>
      <p:sp>
        <p:nvSpPr>
          <p:cNvPr id="1695685207" name="Shape 21"/>
          <p:cNvSpPr/>
          <p:nvPr/>
        </p:nvSpPr>
        <p:spPr bwMode="auto">
          <a:xfrm flipH="1" flipV="0">
            <a:off x="9033510" y="4549140"/>
            <a:ext cx="856113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1509789340" name=""/>
          <p:cNvSpPr txBox="1"/>
          <p:nvPr/>
        </p:nvSpPr>
        <p:spPr bwMode="auto">
          <a:xfrm rot="0" flipH="0" flipV="0">
            <a:off x="8961120" y="4078404"/>
            <a:ext cx="100089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request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34022" name="Text 0"/>
          <p:cNvSpPr txBox="1"/>
          <p:nvPr/>
        </p:nvSpPr>
        <p:spPr bwMode="auto"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The Four Necessary Conditions</a:t>
            </a:r>
            <a:endParaRPr lang="en-US" sz="3200"/>
          </a:p>
        </p:txBody>
      </p:sp>
      <p:sp>
        <p:nvSpPr>
          <p:cNvPr id="446214524" name="Text 1"/>
          <p:cNvSpPr txBox="1"/>
          <p:nvPr/>
        </p:nvSpPr>
        <p:spPr bwMode="auto">
          <a:xfrm>
            <a:off x="64008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All four of these must be true at the Thameeme time for a deadlock to happen.</a:t>
            </a:r>
            <a:endParaRPr lang="en-US" sz="1400"/>
          </a:p>
        </p:txBody>
      </p:sp>
      <p:sp>
        <p:nvSpPr>
          <p:cNvPr id="832826662" name="Shape 2"/>
          <p:cNvSpPr/>
          <p:nvPr/>
        </p:nvSpPr>
        <p:spPr bwMode="auto">
          <a:xfrm>
            <a:off x="640080" y="17373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1234498559" name="Shape 3"/>
          <p:cNvSpPr/>
          <p:nvPr/>
        </p:nvSpPr>
        <p:spPr bwMode="auto">
          <a:xfrm>
            <a:off x="914400" y="2011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87904399" name="Text 4"/>
          <p:cNvSpPr txBox="1"/>
          <p:nvPr/>
        </p:nvSpPr>
        <p:spPr bwMode="auto">
          <a:xfrm>
            <a:off x="91440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800"/>
          </a:p>
        </p:txBody>
      </p:sp>
      <p:sp>
        <p:nvSpPr>
          <p:cNvPr id="1000157205" name="Text 5"/>
          <p:cNvSpPr txBox="1"/>
          <p:nvPr/>
        </p:nvSpPr>
        <p:spPr bwMode="auto">
          <a:xfrm>
            <a:off x="1600200" y="1993392"/>
            <a:ext cx="4160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Mutual Exclusion</a:t>
            </a:r>
            <a:endParaRPr lang="en-US" sz="1600"/>
          </a:p>
        </p:txBody>
      </p:sp>
      <p:sp>
        <p:nvSpPr>
          <p:cNvPr id="2041524910" name="Text 6"/>
          <p:cNvSpPr txBox="1"/>
          <p:nvPr/>
        </p:nvSpPr>
        <p:spPr bwMode="auto">
          <a:xfrm>
            <a:off x="914400" y="26060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Only one process can use a resource at a time — it can't be shared.</a:t>
            </a:r>
            <a:endParaRPr lang="en-US" sz="1250"/>
          </a:p>
        </p:txBody>
      </p:sp>
      <p:sp>
        <p:nvSpPr>
          <p:cNvPr id="1856855691" name="Text 7"/>
          <p:cNvSpPr txBox="1"/>
          <p:nvPr/>
        </p:nvSpPr>
        <p:spPr bwMode="auto">
          <a:xfrm>
            <a:off x="914400" y="315468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150" i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e.g. Like a hotstar account — only one person can use it at once.</a:t>
            </a:r>
            <a:endParaRPr lang="en-US" sz="1150"/>
          </a:p>
        </p:txBody>
      </p:sp>
      <p:sp>
        <p:nvSpPr>
          <p:cNvPr id="1748513961" name="Shape 8"/>
          <p:cNvSpPr/>
          <p:nvPr/>
        </p:nvSpPr>
        <p:spPr bwMode="auto">
          <a:xfrm>
            <a:off x="6263640" y="17373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95679558" name="Shape 9"/>
          <p:cNvSpPr/>
          <p:nvPr/>
        </p:nvSpPr>
        <p:spPr bwMode="auto">
          <a:xfrm>
            <a:off x="6537960" y="2011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08246705" name="Text 10"/>
          <p:cNvSpPr txBox="1"/>
          <p:nvPr/>
        </p:nvSpPr>
        <p:spPr bwMode="auto">
          <a:xfrm>
            <a:off x="653796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800"/>
          </a:p>
        </p:txBody>
      </p:sp>
      <p:sp>
        <p:nvSpPr>
          <p:cNvPr id="1429271045" name="Text 11"/>
          <p:cNvSpPr txBox="1"/>
          <p:nvPr/>
        </p:nvSpPr>
        <p:spPr bwMode="auto">
          <a:xfrm>
            <a:off x="7223760" y="1993392"/>
            <a:ext cx="4160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Hold and Wait</a:t>
            </a:r>
            <a:endParaRPr lang="en-US" sz="1600"/>
          </a:p>
        </p:txBody>
      </p:sp>
      <p:sp>
        <p:nvSpPr>
          <p:cNvPr id="1624288275" name="Text 12"/>
          <p:cNvSpPr txBox="1"/>
          <p:nvPr/>
        </p:nvSpPr>
        <p:spPr bwMode="auto">
          <a:xfrm>
            <a:off x="6537960" y="26060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A process is holding one thing while waiting to grab another.</a:t>
            </a:r>
            <a:endParaRPr lang="en-US" sz="1250"/>
          </a:p>
        </p:txBody>
      </p:sp>
      <p:sp>
        <p:nvSpPr>
          <p:cNvPr id="132767807" name="Text 13"/>
          <p:cNvSpPr txBox="1"/>
          <p:nvPr/>
        </p:nvSpPr>
        <p:spPr bwMode="auto">
          <a:xfrm>
            <a:off x="6537960" y="315468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150" i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e.g. You're holding a fork, and waiting for someone to hand you a knife.</a:t>
            </a:r>
            <a:endParaRPr lang="en-US" sz="1150"/>
          </a:p>
        </p:txBody>
      </p:sp>
      <p:sp>
        <p:nvSpPr>
          <p:cNvPr id="1034431537" name="Shape 14"/>
          <p:cNvSpPr/>
          <p:nvPr/>
        </p:nvSpPr>
        <p:spPr bwMode="auto">
          <a:xfrm>
            <a:off x="640080" y="41148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303027907" name="Shape 15"/>
          <p:cNvSpPr/>
          <p:nvPr/>
        </p:nvSpPr>
        <p:spPr bwMode="auto">
          <a:xfrm>
            <a:off x="914400" y="43891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21996208" name="Text 16"/>
          <p:cNvSpPr txBox="1"/>
          <p:nvPr/>
        </p:nvSpPr>
        <p:spPr bwMode="auto">
          <a:xfrm>
            <a:off x="91440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800"/>
          </a:p>
        </p:txBody>
      </p:sp>
      <p:sp>
        <p:nvSpPr>
          <p:cNvPr id="1686619056" name="Text 17"/>
          <p:cNvSpPr txBox="1"/>
          <p:nvPr/>
        </p:nvSpPr>
        <p:spPr bwMode="auto">
          <a:xfrm>
            <a:off x="1600200" y="4370832"/>
            <a:ext cx="4160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 Preemption</a:t>
            </a:r>
            <a:endParaRPr lang="en-US" sz="1600"/>
          </a:p>
        </p:txBody>
      </p:sp>
      <p:sp>
        <p:nvSpPr>
          <p:cNvPr id="1803239978" name="Text 18"/>
          <p:cNvSpPr txBox="1"/>
          <p:nvPr/>
        </p:nvSpPr>
        <p:spPr bwMode="auto">
          <a:xfrm>
            <a:off x="914400" y="4983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No one can force a process to give up what it's already holding.</a:t>
            </a:r>
            <a:endParaRPr lang="en-US" sz="1250"/>
          </a:p>
        </p:txBody>
      </p:sp>
      <p:sp>
        <p:nvSpPr>
          <p:cNvPr id="1912808409" name="Text 19"/>
          <p:cNvSpPr txBox="1"/>
          <p:nvPr/>
        </p:nvSpPr>
        <p:spPr bwMode="auto">
          <a:xfrm>
            <a:off x="914400" y="553212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150" i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e.g. Nobody can snatch the fork out of your hand — you must put it down yourself.</a:t>
            </a:r>
            <a:endParaRPr lang="en-US" sz="1150"/>
          </a:p>
        </p:txBody>
      </p:sp>
      <p:sp>
        <p:nvSpPr>
          <p:cNvPr id="66722009" name="Shape 20"/>
          <p:cNvSpPr/>
          <p:nvPr/>
        </p:nvSpPr>
        <p:spPr bwMode="auto">
          <a:xfrm>
            <a:off x="6263640" y="41148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533327322" name="Shape 21"/>
          <p:cNvSpPr/>
          <p:nvPr/>
        </p:nvSpPr>
        <p:spPr bwMode="auto">
          <a:xfrm>
            <a:off x="6537960" y="43891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96430904" name="Text 22"/>
          <p:cNvSpPr txBox="1"/>
          <p:nvPr/>
        </p:nvSpPr>
        <p:spPr bwMode="auto">
          <a:xfrm>
            <a:off x="653796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800"/>
          </a:p>
        </p:txBody>
      </p:sp>
      <p:sp>
        <p:nvSpPr>
          <p:cNvPr id="1756828752" name="Text 23"/>
          <p:cNvSpPr txBox="1"/>
          <p:nvPr/>
        </p:nvSpPr>
        <p:spPr bwMode="auto">
          <a:xfrm>
            <a:off x="7223760" y="4370832"/>
            <a:ext cx="4160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Circular Wait</a:t>
            </a:r>
            <a:endParaRPr lang="en-US" sz="1600"/>
          </a:p>
        </p:txBody>
      </p:sp>
      <p:sp>
        <p:nvSpPr>
          <p:cNvPr id="1837071332" name="Text 24"/>
          <p:cNvSpPr txBox="1"/>
          <p:nvPr/>
        </p:nvSpPr>
        <p:spPr bwMode="auto">
          <a:xfrm>
            <a:off x="6537960" y="4983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Everyone is waiting on the next person, forming a closed loop.</a:t>
            </a:r>
            <a:endParaRPr lang="en-US" sz="1250"/>
          </a:p>
        </p:txBody>
      </p:sp>
      <p:sp>
        <p:nvSpPr>
          <p:cNvPr id="1091521268" name="Text 25"/>
          <p:cNvSpPr txBox="1"/>
          <p:nvPr/>
        </p:nvSpPr>
        <p:spPr bwMode="auto">
          <a:xfrm>
            <a:off x="6537960" y="553212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150" i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e.g. A waits for B, B waits for C, and C waits for A. The loop never breaks.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4:prism dir="r" isContent="1" isInverted="1"/>
      </p:transition>
    </mc:Choice>
    <mc:Fallback>
      <p:transition spd="slow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7F8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52130" name="Text 0"/>
          <p:cNvSpPr txBox="1"/>
          <p:nvPr/>
        </p:nvSpPr>
        <p:spPr bwMode="auto"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Three Ways to Handle Deadlock</a:t>
            </a:r>
            <a:endParaRPr lang="en-US" sz="3200"/>
          </a:p>
        </p:txBody>
      </p:sp>
      <p:sp>
        <p:nvSpPr>
          <p:cNvPr id="1471201686" name="Text 1"/>
          <p:cNvSpPr txBox="1"/>
          <p:nvPr/>
        </p:nvSpPr>
        <p:spPr bwMode="auto">
          <a:xfrm>
            <a:off x="640080" y="1097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The computer's operating system can pick any one of these three approaches.</a:t>
            </a:r>
            <a:endParaRPr lang="en-US" sz="1400"/>
          </a:p>
        </p:txBody>
      </p:sp>
      <p:sp>
        <p:nvSpPr>
          <p:cNvPr id="1364223652" name="Shape 2"/>
          <p:cNvSpPr/>
          <p:nvPr/>
        </p:nvSpPr>
        <p:spPr bwMode="auto">
          <a:xfrm>
            <a:off x="640080" y="173736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blurRad="101600" dist="38100" dir="5400000" sx="100000" sy="100000" kx="0" ky="0" algn="bl" rotWithShape="0">
              <a:srgbClr val="44475A">
                <a:alpha val="18000"/>
              </a:srgbClr>
            </a:outerShdw>
          </a:effectLst>
        </p:spPr>
      </p:sp>
      <p:sp>
        <p:nvSpPr>
          <p:cNvPr id="1277380423" name="Shape 3"/>
          <p:cNvSpPr/>
          <p:nvPr/>
        </p:nvSpPr>
        <p:spPr bwMode="auto">
          <a:xfrm>
            <a:off x="640080" y="1737360"/>
            <a:ext cx="34290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726759349" name="Shape 4"/>
          <p:cNvSpPr/>
          <p:nvPr/>
        </p:nvSpPr>
        <p:spPr bwMode="auto">
          <a:xfrm>
            <a:off x="640080" y="1993392"/>
            <a:ext cx="3429000" cy="2468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41950800" name="Text 5"/>
          <p:cNvSpPr txBox="1"/>
          <p:nvPr/>
        </p:nvSpPr>
        <p:spPr bwMode="auto">
          <a:xfrm>
            <a:off x="868680" y="17373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Prevention</a:t>
            </a:r>
            <a:endParaRPr lang="en-US" sz="1600"/>
          </a:p>
        </p:txBody>
      </p:sp>
      <p:sp>
        <p:nvSpPr>
          <p:cNvPr id="1964280109" name="Text 6"/>
          <p:cNvSpPr txBox="1"/>
          <p:nvPr/>
        </p:nvSpPr>
        <p:spPr bwMode="auto">
          <a:xfrm>
            <a:off x="914400" y="251460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Stop deadlocks from ever forming, by making sure at least one of the four conditions can never happen.</a:t>
            </a:r>
            <a:endParaRPr lang="en-US" sz="1300"/>
          </a:p>
        </p:txBody>
      </p:sp>
      <p:sp>
        <p:nvSpPr>
          <p:cNvPr id="1674043992" name="Shape 7"/>
          <p:cNvSpPr/>
          <p:nvPr/>
        </p:nvSpPr>
        <p:spPr bwMode="auto">
          <a:xfrm>
            <a:off x="914400" y="5257800"/>
            <a:ext cx="2880360" cy="411480"/>
          </a:xfrm>
          <a:prstGeom prst="roundRect">
            <a:avLst>
              <a:gd name="adj" fmla="val 48889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119836090" name="Text 8"/>
          <p:cNvSpPr txBox="1"/>
          <p:nvPr/>
        </p:nvSpPr>
        <p:spPr bwMode="auto">
          <a:xfrm>
            <a:off x="914400" y="5257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Play it safe</a:t>
            </a:r>
            <a:endParaRPr lang="en-US" sz="1150"/>
          </a:p>
        </p:txBody>
      </p:sp>
      <p:sp>
        <p:nvSpPr>
          <p:cNvPr id="54528468" name="Shape 9"/>
          <p:cNvSpPr/>
          <p:nvPr/>
        </p:nvSpPr>
        <p:spPr bwMode="auto">
          <a:xfrm>
            <a:off x="4297680" y="173736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blurRad="101600" dist="38100" dir="5400000" sx="100000" sy="100000" kx="0" ky="0" algn="bl" rotWithShape="0">
              <a:srgbClr val="44475A">
                <a:alpha val="18000"/>
              </a:srgbClr>
            </a:outerShdw>
          </a:effectLst>
        </p:spPr>
      </p:sp>
      <p:sp>
        <p:nvSpPr>
          <p:cNvPr id="1989447016" name="Shape 10"/>
          <p:cNvSpPr/>
          <p:nvPr/>
        </p:nvSpPr>
        <p:spPr bwMode="auto">
          <a:xfrm>
            <a:off x="4297680" y="1737360"/>
            <a:ext cx="3429000" cy="502920"/>
          </a:xfrm>
          <a:prstGeom prst="roundRect">
            <a:avLst>
              <a:gd name="adj" fmla="val 14545"/>
            </a:avLst>
          </a:prstGeom>
          <a:solidFill>
            <a:srgbClr val="3A4694"/>
          </a:solidFill>
          <a:ln/>
        </p:spPr>
      </p:sp>
      <p:sp>
        <p:nvSpPr>
          <p:cNvPr id="558055827" name="Shape 11"/>
          <p:cNvSpPr/>
          <p:nvPr/>
        </p:nvSpPr>
        <p:spPr bwMode="auto">
          <a:xfrm>
            <a:off x="4297680" y="1993392"/>
            <a:ext cx="3429000" cy="246888"/>
          </a:xfrm>
          <a:prstGeom prst="rect">
            <a:avLst/>
          </a:prstGeom>
          <a:solidFill>
            <a:srgbClr val="3A4694"/>
          </a:solidFill>
          <a:ln/>
        </p:spPr>
      </p:sp>
      <p:sp>
        <p:nvSpPr>
          <p:cNvPr id="521688995" name="Text 12"/>
          <p:cNvSpPr txBox="1"/>
          <p:nvPr/>
        </p:nvSpPr>
        <p:spPr bwMode="auto">
          <a:xfrm>
            <a:off x="4526280" y="17373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Avoidance</a:t>
            </a:r>
            <a:endParaRPr lang="en-US" sz="1600"/>
          </a:p>
        </p:txBody>
      </p:sp>
      <p:sp>
        <p:nvSpPr>
          <p:cNvPr id="190461322" name="Text 13"/>
          <p:cNvSpPr txBox="1"/>
          <p:nvPr/>
        </p:nvSpPr>
        <p:spPr bwMode="auto">
          <a:xfrm>
            <a:off x="4572000" y="251460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Before saying yes to a request, check if it's still "safe" to grant. If not, make the process wait.</a:t>
            </a:r>
            <a:endParaRPr lang="en-US" sz="1300"/>
          </a:p>
        </p:txBody>
      </p:sp>
      <p:sp>
        <p:nvSpPr>
          <p:cNvPr id="1558471404" name="Shape 14"/>
          <p:cNvSpPr/>
          <p:nvPr/>
        </p:nvSpPr>
        <p:spPr bwMode="auto">
          <a:xfrm>
            <a:off x="4572000" y="5257800"/>
            <a:ext cx="2880360" cy="411480"/>
          </a:xfrm>
          <a:prstGeom prst="roundRect">
            <a:avLst>
              <a:gd name="adj" fmla="val 48889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418450845" name="Text 15"/>
          <p:cNvSpPr txBox="1"/>
          <p:nvPr/>
        </p:nvSpPr>
        <p:spPr bwMode="auto">
          <a:xfrm>
            <a:off x="4572000" y="5257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Think ahead</a:t>
            </a:r>
            <a:endParaRPr lang="en-US" sz="1150"/>
          </a:p>
        </p:txBody>
      </p:sp>
      <p:sp>
        <p:nvSpPr>
          <p:cNvPr id="135511971" name="Shape 16"/>
          <p:cNvSpPr/>
          <p:nvPr/>
        </p:nvSpPr>
        <p:spPr bwMode="auto">
          <a:xfrm>
            <a:off x="7955280" y="173736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blurRad="101600" dist="38100" dir="5400000" sx="100000" sy="100000" kx="0" ky="0" algn="bl" rotWithShape="0">
              <a:srgbClr val="44475A">
                <a:alpha val="18000"/>
              </a:srgbClr>
            </a:outerShdw>
          </a:effectLst>
        </p:spPr>
      </p:sp>
      <p:sp>
        <p:nvSpPr>
          <p:cNvPr id="1199834396" name="Shape 17"/>
          <p:cNvSpPr/>
          <p:nvPr/>
        </p:nvSpPr>
        <p:spPr bwMode="auto">
          <a:xfrm>
            <a:off x="7955280" y="1737360"/>
            <a:ext cx="3429000" cy="502920"/>
          </a:xfrm>
          <a:prstGeom prst="roundRect">
            <a:avLst>
              <a:gd name="adj" fmla="val 14545"/>
            </a:avLst>
          </a:prstGeom>
          <a:solidFill>
            <a:srgbClr val="E8543E"/>
          </a:solidFill>
          <a:ln/>
        </p:spPr>
      </p:sp>
      <p:sp>
        <p:nvSpPr>
          <p:cNvPr id="616317196" name="Shape 18"/>
          <p:cNvSpPr/>
          <p:nvPr/>
        </p:nvSpPr>
        <p:spPr bwMode="auto">
          <a:xfrm>
            <a:off x="7955280" y="1993392"/>
            <a:ext cx="3429000" cy="246888"/>
          </a:xfrm>
          <a:prstGeom prst="rect">
            <a:avLst/>
          </a:prstGeom>
          <a:solidFill>
            <a:srgbClr val="E8543E"/>
          </a:solidFill>
          <a:ln/>
        </p:spPr>
      </p:sp>
      <p:sp>
        <p:nvSpPr>
          <p:cNvPr id="1483740224" name="Text 19"/>
          <p:cNvSpPr txBox="1"/>
          <p:nvPr/>
        </p:nvSpPr>
        <p:spPr bwMode="auto">
          <a:xfrm>
            <a:off x="8183880" y="17373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Detection &amp; Recovery</a:t>
            </a:r>
            <a:endParaRPr lang="en-US" sz="1600"/>
          </a:p>
        </p:txBody>
      </p:sp>
      <p:sp>
        <p:nvSpPr>
          <p:cNvPr id="1472154299" name="Text 20"/>
          <p:cNvSpPr txBox="1"/>
          <p:nvPr/>
        </p:nvSpPr>
        <p:spPr bwMode="auto">
          <a:xfrm>
            <a:off x="8229600" y="251460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Let deadlocks happen, catch them by checking for loops, then fix it by stopping one process.</a:t>
            </a:r>
            <a:endParaRPr lang="en-US" sz="1300"/>
          </a:p>
        </p:txBody>
      </p:sp>
      <p:sp>
        <p:nvSpPr>
          <p:cNvPr id="722565546" name="Shape 21"/>
          <p:cNvSpPr/>
          <p:nvPr/>
        </p:nvSpPr>
        <p:spPr bwMode="auto">
          <a:xfrm>
            <a:off x="8229600" y="5257800"/>
            <a:ext cx="2880360" cy="411480"/>
          </a:xfrm>
          <a:prstGeom prst="roundRect">
            <a:avLst>
              <a:gd name="adj" fmla="val 48889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1707806480" name="Text 22"/>
          <p:cNvSpPr txBox="1"/>
          <p:nvPr/>
        </p:nvSpPr>
        <p:spPr bwMode="auto">
          <a:xfrm>
            <a:off x="8229600" y="5257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Fix it later</a:t>
            </a:r>
            <a:endParaRPr lang="en-US" sz="1150"/>
          </a:p>
        </p:txBody>
      </p:sp>
      <p:sp>
        <p:nvSpPr>
          <p:cNvPr id="215098674" name="Text 23"/>
          <p:cNvSpPr txBox="1"/>
          <p:nvPr/>
        </p:nvSpPr>
        <p:spPr bwMode="auto">
          <a:xfrm>
            <a:off x="640080" y="6172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This deck focuses on Prevention — the easiest one to understand. Let's dive in!</a:t>
            </a:r>
            <a:endParaRPr lang="en-US" sz="1250"/>
          </a:p>
        </p:txBody>
      </p:sp>
      <p:sp>
        <p:nvSpPr>
          <p:cNvPr id="1108542092" name=""/>
          <p:cNvSpPr txBox="1"/>
          <p:nvPr/>
        </p:nvSpPr>
        <p:spPr bwMode="auto">
          <a:xfrm rot="0" flipH="0" flipV="0">
            <a:off x="3628677" y="3246120"/>
            <a:ext cx="4934644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https://www.youtube.com/watch?v=1LQ-W4RKitU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4:flip dir="l"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869704" name="Text 0"/>
          <p:cNvSpPr txBox="1"/>
          <p:nvPr/>
        </p:nvSpPr>
        <p:spPr bwMode="auto"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Deadlock Prevention</a:t>
            </a:r>
            <a:endParaRPr lang="en-US" sz="3200"/>
          </a:p>
        </p:txBody>
      </p:sp>
      <p:sp>
        <p:nvSpPr>
          <p:cNvPr id="5848940" name="Text 1"/>
          <p:cNvSpPr txBox="1"/>
          <p:nvPr/>
        </p:nvSpPr>
        <p:spPr bwMode="auto">
          <a:xfrm>
            <a:off x="640080" y="1188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The trick is simple: break just ONE of the four conditions, and deadlock can't happen at all.</a:t>
            </a:r>
            <a:endParaRPr lang="en-US" sz="1500"/>
          </a:p>
        </p:txBody>
      </p:sp>
      <p:sp>
        <p:nvSpPr>
          <p:cNvPr id="221450069" name="Shape 2"/>
          <p:cNvSpPr/>
          <p:nvPr/>
        </p:nvSpPr>
        <p:spPr bwMode="auto">
          <a:xfrm>
            <a:off x="640080" y="1965960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26317A"/>
          </a:solidFill>
          <a:ln/>
        </p:spPr>
      </p:sp>
      <p:sp>
        <p:nvSpPr>
          <p:cNvPr id="190277982" name="Shape 3"/>
          <p:cNvSpPr/>
          <p:nvPr/>
        </p:nvSpPr>
        <p:spPr bwMode="auto">
          <a:xfrm>
            <a:off x="868680" y="2148840"/>
            <a:ext cx="2468880" cy="512064"/>
          </a:xfrm>
          <a:prstGeom prst="roundRect">
            <a:avLst>
              <a:gd name="adj" fmla="val 50000"/>
            </a:avLst>
          </a:prstGeom>
          <a:solidFill>
            <a:srgbClr val="E8543E"/>
          </a:solidFill>
          <a:ln/>
        </p:spPr>
      </p:sp>
      <p:sp>
        <p:nvSpPr>
          <p:cNvPr id="571556319" name="Text 4"/>
          <p:cNvSpPr txBox="1"/>
          <p:nvPr/>
        </p:nvSpPr>
        <p:spPr bwMode="auto">
          <a:xfrm>
            <a:off x="868680" y="214884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Mutual Exclusion</a:t>
            </a:r>
            <a:endParaRPr lang="en-US" sz="1250"/>
          </a:p>
        </p:txBody>
      </p:sp>
      <p:sp>
        <p:nvSpPr>
          <p:cNvPr id="587744795" name="Text 5"/>
          <p:cNvSpPr txBox="1"/>
          <p:nvPr/>
        </p:nvSpPr>
        <p:spPr bwMode="auto">
          <a:xfrm>
            <a:off x="3520440" y="1965960"/>
            <a:ext cx="7818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Let resources be shared when possible (like a read-only file everyone can view at once).</a:t>
            </a:r>
            <a:endParaRPr lang="en-US" sz="1250"/>
          </a:p>
        </p:txBody>
      </p:sp>
      <p:sp>
        <p:nvSpPr>
          <p:cNvPr id="1916340709" name="Shape 6"/>
          <p:cNvSpPr/>
          <p:nvPr/>
        </p:nvSpPr>
        <p:spPr bwMode="auto">
          <a:xfrm>
            <a:off x="640080" y="2990088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26317A"/>
          </a:solidFill>
          <a:ln/>
        </p:spPr>
      </p:sp>
      <p:sp>
        <p:nvSpPr>
          <p:cNvPr id="877395389" name="Shape 7"/>
          <p:cNvSpPr/>
          <p:nvPr/>
        </p:nvSpPr>
        <p:spPr bwMode="auto">
          <a:xfrm>
            <a:off x="868680" y="3172968"/>
            <a:ext cx="2468880" cy="512064"/>
          </a:xfrm>
          <a:prstGeom prst="roundRect">
            <a:avLst>
              <a:gd name="adj" fmla="val 50000"/>
            </a:avLst>
          </a:prstGeom>
          <a:solidFill>
            <a:srgbClr val="E8543E"/>
          </a:solidFill>
          <a:ln/>
        </p:spPr>
      </p:sp>
      <p:sp>
        <p:nvSpPr>
          <p:cNvPr id="205126198" name="Text 8"/>
          <p:cNvSpPr txBox="1"/>
          <p:nvPr/>
        </p:nvSpPr>
        <p:spPr bwMode="auto">
          <a:xfrm>
            <a:off x="868680" y="31729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Hold and Wait</a:t>
            </a:r>
            <a:endParaRPr lang="en-US" sz="1250"/>
          </a:p>
        </p:txBody>
      </p:sp>
      <p:sp>
        <p:nvSpPr>
          <p:cNvPr id="11645047" name="Text 9"/>
          <p:cNvSpPr txBox="1"/>
          <p:nvPr/>
        </p:nvSpPr>
        <p:spPr bwMode="auto">
          <a:xfrm>
            <a:off x="3520440" y="2990088"/>
            <a:ext cx="7818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Make a process ask for everything it needs at the start, instead of grabbing things one by one.</a:t>
            </a:r>
            <a:endParaRPr lang="en-US" sz="1250"/>
          </a:p>
        </p:txBody>
      </p:sp>
      <p:sp>
        <p:nvSpPr>
          <p:cNvPr id="1413270987" name="Shape 10"/>
          <p:cNvSpPr/>
          <p:nvPr/>
        </p:nvSpPr>
        <p:spPr bwMode="auto">
          <a:xfrm>
            <a:off x="640080" y="4014216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26317A"/>
          </a:solidFill>
          <a:ln/>
        </p:spPr>
      </p:sp>
      <p:sp>
        <p:nvSpPr>
          <p:cNvPr id="178231288" name="Shape 11"/>
          <p:cNvSpPr/>
          <p:nvPr/>
        </p:nvSpPr>
        <p:spPr bwMode="auto">
          <a:xfrm>
            <a:off x="868680" y="4197096"/>
            <a:ext cx="2468880" cy="512064"/>
          </a:xfrm>
          <a:prstGeom prst="roundRect">
            <a:avLst>
              <a:gd name="adj" fmla="val 50000"/>
            </a:avLst>
          </a:prstGeom>
          <a:solidFill>
            <a:srgbClr val="E8543E"/>
          </a:solidFill>
          <a:ln/>
        </p:spPr>
      </p:sp>
      <p:sp>
        <p:nvSpPr>
          <p:cNvPr id="1967474375" name="Text 12"/>
          <p:cNvSpPr txBox="1"/>
          <p:nvPr/>
        </p:nvSpPr>
        <p:spPr bwMode="auto">
          <a:xfrm>
            <a:off x="868680" y="419709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Preemption</a:t>
            </a:r>
            <a:endParaRPr lang="en-US" sz="1250"/>
          </a:p>
        </p:txBody>
      </p:sp>
      <p:sp>
        <p:nvSpPr>
          <p:cNvPr id="1133461869" name="Text 13"/>
          <p:cNvSpPr txBox="1"/>
          <p:nvPr/>
        </p:nvSpPr>
        <p:spPr bwMode="auto">
          <a:xfrm>
            <a:off x="3520440" y="4014216"/>
            <a:ext cx="7818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If a process can't get what it needs, take back what it's already holding until it can get everything together.</a:t>
            </a:r>
            <a:endParaRPr lang="en-US" sz="1250"/>
          </a:p>
        </p:txBody>
      </p:sp>
      <p:sp>
        <p:nvSpPr>
          <p:cNvPr id="1645946268" name="Shape 14"/>
          <p:cNvSpPr/>
          <p:nvPr/>
        </p:nvSpPr>
        <p:spPr bwMode="auto">
          <a:xfrm>
            <a:off x="640080" y="5038344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26317A"/>
          </a:solidFill>
          <a:ln/>
        </p:spPr>
      </p:sp>
      <p:sp>
        <p:nvSpPr>
          <p:cNvPr id="1602746436" name="Shape 15"/>
          <p:cNvSpPr/>
          <p:nvPr/>
        </p:nvSpPr>
        <p:spPr bwMode="auto">
          <a:xfrm>
            <a:off x="868680" y="5221224"/>
            <a:ext cx="2468880" cy="512064"/>
          </a:xfrm>
          <a:prstGeom prst="roundRect">
            <a:avLst>
              <a:gd name="adj" fmla="val 50000"/>
            </a:avLst>
          </a:prstGeom>
          <a:solidFill>
            <a:srgbClr val="E8543E"/>
          </a:solidFill>
          <a:ln/>
        </p:spPr>
      </p:sp>
      <p:sp>
        <p:nvSpPr>
          <p:cNvPr id="1223995063" name="Text 16"/>
          <p:cNvSpPr txBox="1"/>
          <p:nvPr/>
        </p:nvSpPr>
        <p:spPr bwMode="auto">
          <a:xfrm>
            <a:off x="868680" y="52212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Circular Wait</a:t>
            </a:r>
            <a:endParaRPr lang="en-US" sz="1250"/>
          </a:p>
        </p:txBody>
      </p:sp>
      <p:sp>
        <p:nvSpPr>
          <p:cNvPr id="763768894" name="Text 17"/>
          <p:cNvSpPr txBox="1"/>
          <p:nvPr/>
        </p:nvSpPr>
        <p:spPr bwMode="auto">
          <a:xfrm>
            <a:off x="3520440" y="5038344"/>
            <a:ext cx="7818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Give every resource a fixed number, and only allow requests in increasing order — so no loop can ever form.</a:t>
            </a:r>
            <a:endParaRPr lang="en-US" sz="12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432453" name="Text 0"/>
          <p:cNvSpPr txBox="1"/>
          <p:nvPr/>
        </p:nvSpPr>
        <p:spPr bwMode="auto"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Fixing Condition 1 &amp; 2</a:t>
            </a:r>
            <a:endParaRPr lang="en-US" sz="2700"/>
          </a:p>
        </p:txBody>
      </p:sp>
      <p:sp>
        <p:nvSpPr>
          <p:cNvPr id="1307309481" name="Shape 1"/>
          <p:cNvSpPr/>
          <p:nvPr/>
        </p:nvSpPr>
        <p:spPr bwMode="auto">
          <a:xfrm>
            <a:off x="640080" y="141732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7F8FC"/>
          </a:solidFill>
          <a:ln/>
        </p:spPr>
      </p:sp>
      <p:sp>
        <p:nvSpPr>
          <p:cNvPr id="1113588264" name="Shape 2"/>
          <p:cNvSpPr/>
          <p:nvPr/>
        </p:nvSpPr>
        <p:spPr bwMode="auto">
          <a:xfrm>
            <a:off x="960120" y="17373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281788603" name="Text 3"/>
          <p:cNvSpPr txBox="1"/>
          <p:nvPr/>
        </p:nvSpPr>
        <p:spPr bwMode="auto">
          <a:xfrm>
            <a:off x="9601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2000"/>
          </a:p>
        </p:txBody>
      </p:sp>
      <p:sp>
        <p:nvSpPr>
          <p:cNvPr id="876859562" name="Text 4"/>
          <p:cNvSpPr txBox="1"/>
          <p:nvPr/>
        </p:nvSpPr>
        <p:spPr bwMode="auto">
          <a:xfrm>
            <a:off x="1645920" y="178308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Mutual Exclusion</a:t>
            </a:r>
            <a:endParaRPr lang="en-US" sz="1800"/>
          </a:p>
        </p:txBody>
      </p:sp>
      <p:sp>
        <p:nvSpPr>
          <p:cNvPr id="1138976994" name="Text 5"/>
          <p:cNvSpPr txBox="1"/>
          <p:nvPr/>
        </p:nvSpPr>
        <p:spPr bwMode="auto">
          <a:xfrm>
            <a:off x="960120" y="246888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We can't always avoid this — some things (like a printer) truly can only be used by one person at a time. But we can still help:</a:t>
            </a:r>
            <a:endParaRPr lang="en-US" sz="1250"/>
          </a:p>
        </p:txBody>
      </p:sp>
      <p:sp>
        <p:nvSpPr>
          <p:cNvPr id="390208324" name="Shape 6"/>
          <p:cNvSpPr/>
          <p:nvPr/>
        </p:nvSpPr>
        <p:spPr bwMode="auto">
          <a:xfrm>
            <a:off x="960120" y="3255264"/>
            <a:ext cx="82296" cy="82296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147101711" name="Text 7"/>
          <p:cNvSpPr txBox="1"/>
          <p:nvPr/>
        </p:nvSpPr>
        <p:spPr bwMode="auto">
          <a:xfrm>
            <a:off x="1188720" y="30815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Let shareable things (like a read-only file) be used by many at once</a:t>
            </a:r>
            <a:endParaRPr lang="en-US" sz="1200"/>
          </a:p>
        </p:txBody>
      </p:sp>
      <p:sp>
        <p:nvSpPr>
          <p:cNvPr id="2035819737" name="Shape 8"/>
          <p:cNvSpPr/>
          <p:nvPr/>
        </p:nvSpPr>
        <p:spPr bwMode="auto">
          <a:xfrm>
            <a:off x="960120" y="3822192"/>
            <a:ext cx="82296" cy="82296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724682981" name="Text 9"/>
          <p:cNvSpPr txBox="1"/>
          <p:nvPr/>
        </p:nvSpPr>
        <p:spPr bwMode="auto">
          <a:xfrm>
            <a:off x="1188720" y="364845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For a printer, add a queue so requests line up instead of getting stuck</a:t>
            </a:r>
            <a:endParaRPr lang="en-US" sz="1200"/>
          </a:p>
        </p:txBody>
      </p:sp>
      <p:sp>
        <p:nvSpPr>
          <p:cNvPr id="1563509917" name="Shape 10"/>
          <p:cNvSpPr/>
          <p:nvPr/>
        </p:nvSpPr>
        <p:spPr bwMode="auto">
          <a:xfrm>
            <a:off x="960120" y="4480560"/>
            <a:ext cx="4709160" cy="0"/>
          </a:xfrm>
          <a:prstGeom prst="line">
            <a:avLst/>
          </a:prstGeom>
          <a:noFill/>
          <a:ln w="12700">
            <a:solidFill>
              <a:srgbClr val="E2E6F5"/>
            </a:solidFill>
            <a:prstDash val="solid"/>
          </a:ln>
        </p:spPr>
      </p:sp>
      <p:sp>
        <p:nvSpPr>
          <p:cNvPr id="1294565309" name="Shape 11"/>
          <p:cNvSpPr/>
          <p:nvPr/>
        </p:nvSpPr>
        <p:spPr bwMode="auto">
          <a:xfrm>
            <a:off x="960120" y="46634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341433848" name="Text 12"/>
          <p:cNvSpPr txBox="1"/>
          <p:nvPr/>
        </p:nvSpPr>
        <p:spPr bwMode="auto">
          <a:xfrm>
            <a:off x="9601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2000"/>
          </a:p>
        </p:txBody>
      </p:sp>
      <p:sp>
        <p:nvSpPr>
          <p:cNvPr id="1215807322" name="Text 13"/>
          <p:cNvSpPr txBox="1"/>
          <p:nvPr/>
        </p:nvSpPr>
        <p:spPr bwMode="auto">
          <a:xfrm>
            <a:off x="1645920" y="4709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Hold and Wait</a:t>
            </a:r>
            <a:endParaRPr lang="en-US" sz="1800"/>
          </a:p>
        </p:txBody>
      </p:sp>
      <p:sp>
        <p:nvSpPr>
          <p:cNvPr id="1719655212" name="Text 14"/>
          <p:cNvSpPr txBox="1"/>
          <p:nvPr/>
        </p:nvSpPr>
        <p:spPr bwMode="auto">
          <a:xfrm>
            <a:off x="960120" y="5394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The fix: make a process ask for everything it needs before it starts — never let it hold one thing while asking for another.</a:t>
            </a:r>
            <a:endParaRPr lang="en-US" sz="1250"/>
          </a:p>
        </p:txBody>
      </p:sp>
      <p:sp>
        <p:nvSpPr>
          <p:cNvPr id="1426513913" name="Shape 15"/>
          <p:cNvSpPr/>
          <p:nvPr/>
        </p:nvSpPr>
        <p:spPr bwMode="auto">
          <a:xfrm>
            <a:off x="6400800" y="141732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BEAE7"/>
          </a:solidFill>
          <a:ln w="12700">
            <a:solidFill>
              <a:srgbClr val="E8543E"/>
            </a:solidFill>
            <a:prstDash val="solid"/>
          </a:ln>
        </p:spPr>
      </p:sp>
      <p:sp>
        <p:nvSpPr>
          <p:cNvPr id="1138632688" name="Text 16"/>
          <p:cNvSpPr txBox="1"/>
          <p:nvPr/>
        </p:nvSpPr>
        <p:spPr bwMode="auto">
          <a:xfrm>
            <a:off x="667512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Without prevention</a:t>
            </a:r>
            <a:endParaRPr lang="en-US" sz="1250"/>
          </a:p>
        </p:txBody>
      </p:sp>
      <p:sp>
        <p:nvSpPr>
          <p:cNvPr id="1724085498" name="Text 17"/>
          <p:cNvSpPr txBox="1"/>
          <p:nvPr/>
        </p:nvSpPr>
        <p:spPr bwMode="auto">
          <a:xfrm>
            <a:off x="6675120" y="20116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picks up the Pen, then asks for the Ruler while still holding the Pen. If Thameem does the Thameeme thing in reverse, they get stuck — just like our earlier example.</a:t>
            </a:r>
            <a:endParaRPr lang="en-US" sz="1300"/>
          </a:p>
        </p:txBody>
      </p:sp>
      <p:sp>
        <p:nvSpPr>
          <p:cNvPr id="1961978351" name="Shape 18"/>
          <p:cNvSpPr/>
          <p:nvPr/>
        </p:nvSpPr>
        <p:spPr bwMode="auto">
          <a:xfrm>
            <a:off x="6400800" y="397764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E7EC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11378941" name="Text 19"/>
          <p:cNvSpPr txBox="1"/>
          <p:nvPr/>
        </p:nvSpPr>
        <p:spPr bwMode="auto">
          <a:xfrm>
            <a:off x="6675120" y="4160519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With prevention</a:t>
            </a:r>
            <a:endParaRPr lang="en-US" sz="1250"/>
          </a:p>
        </p:txBody>
      </p:sp>
      <p:sp>
        <p:nvSpPr>
          <p:cNvPr id="488936973" name="Text 20"/>
          <p:cNvSpPr txBox="1"/>
          <p:nvPr/>
        </p:nvSpPr>
        <p:spPr bwMode="auto">
          <a:xfrm>
            <a:off x="6675120" y="457200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must ask for the Pen </a:t>
            </a:r>
            <a:r>
              <a:rPr lang="en-US" sz="13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AND</a:t>
            </a: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 the Ruler together, right at the start. If both aren't free, Hari simply waits — and never ends up holding just one item.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:comb dir="horz"/>
      </p:transition>
    </mc:Choice>
    <mc:Fallback>
      <p:transition spd="slow" advClick="1">
        <p:comb dir="horz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662809" name="Text 0"/>
          <p:cNvSpPr txBox="1"/>
          <p:nvPr/>
        </p:nvSpPr>
        <p:spPr bwMode="auto"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Fixing Condition 3 &amp; 4</a:t>
            </a:r>
            <a:endParaRPr lang="en-US" sz="2700"/>
          </a:p>
        </p:txBody>
      </p:sp>
      <p:sp>
        <p:nvSpPr>
          <p:cNvPr id="1349258656" name="Shape 1"/>
          <p:cNvSpPr/>
          <p:nvPr/>
        </p:nvSpPr>
        <p:spPr bwMode="auto">
          <a:xfrm>
            <a:off x="640080" y="141732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7F8FC"/>
          </a:solidFill>
          <a:ln/>
        </p:spPr>
      </p:sp>
      <p:sp>
        <p:nvSpPr>
          <p:cNvPr id="1439817140" name="Shape 2"/>
          <p:cNvSpPr/>
          <p:nvPr/>
        </p:nvSpPr>
        <p:spPr bwMode="auto">
          <a:xfrm>
            <a:off x="960120" y="17373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305934635" name="Text 3"/>
          <p:cNvSpPr txBox="1"/>
          <p:nvPr/>
        </p:nvSpPr>
        <p:spPr bwMode="auto">
          <a:xfrm>
            <a:off x="9601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2000"/>
          </a:p>
        </p:txBody>
      </p:sp>
      <p:sp>
        <p:nvSpPr>
          <p:cNvPr id="1042222235" name="Text 4"/>
          <p:cNvSpPr txBox="1"/>
          <p:nvPr/>
        </p:nvSpPr>
        <p:spPr bwMode="auto">
          <a:xfrm>
            <a:off x="1645920" y="178308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 Preemption</a:t>
            </a:r>
            <a:endParaRPr lang="en-US" sz="1800"/>
          </a:p>
        </p:txBody>
      </p:sp>
      <p:sp>
        <p:nvSpPr>
          <p:cNvPr id="925918876" name="Text 5"/>
          <p:cNvSpPr txBox="1"/>
          <p:nvPr/>
        </p:nvSpPr>
        <p:spPr bwMode="auto">
          <a:xfrm>
            <a:off x="960120" y="246888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The fix: if a process can't get a resource it needs, just take back everything it's already holding — don't let it sit and wait.</a:t>
            </a:r>
            <a:endParaRPr lang="en-US" sz="1250"/>
          </a:p>
        </p:txBody>
      </p:sp>
      <p:sp>
        <p:nvSpPr>
          <p:cNvPr id="660849146" name="Shape 6"/>
          <p:cNvSpPr/>
          <p:nvPr/>
        </p:nvSpPr>
        <p:spPr bwMode="auto">
          <a:xfrm>
            <a:off x="960120" y="3346704"/>
            <a:ext cx="82296" cy="82296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664469051" name="Text 7"/>
          <p:cNvSpPr txBox="1"/>
          <p:nvPr/>
        </p:nvSpPr>
        <p:spPr bwMode="auto">
          <a:xfrm>
            <a:off x="1188720" y="31729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must put the Pen back down if the Ruler isn't free</a:t>
            </a:r>
            <a:endParaRPr lang="en-US" sz="1200"/>
          </a:p>
        </p:txBody>
      </p:sp>
      <p:sp>
        <p:nvSpPr>
          <p:cNvPr id="502168485" name="Shape 8"/>
          <p:cNvSpPr/>
          <p:nvPr/>
        </p:nvSpPr>
        <p:spPr bwMode="auto">
          <a:xfrm>
            <a:off x="960120" y="3913632"/>
            <a:ext cx="82296" cy="82296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160888665" name="Text 9"/>
          <p:cNvSpPr txBox="1"/>
          <p:nvPr/>
        </p:nvSpPr>
        <p:spPr bwMode="auto">
          <a:xfrm>
            <a:off x="1188720" y="373989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tries again later, once both items can be given together</a:t>
            </a:r>
            <a:endParaRPr lang="en-US" sz="1200"/>
          </a:p>
        </p:txBody>
      </p:sp>
      <p:sp>
        <p:nvSpPr>
          <p:cNvPr id="1720350375" name="Shape 10"/>
          <p:cNvSpPr/>
          <p:nvPr/>
        </p:nvSpPr>
        <p:spPr bwMode="auto">
          <a:xfrm>
            <a:off x="960120" y="4480560"/>
            <a:ext cx="4709160" cy="0"/>
          </a:xfrm>
          <a:prstGeom prst="line">
            <a:avLst/>
          </a:prstGeom>
          <a:noFill/>
          <a:ln w="12700">
            <a:solidFill>
              <a:srgbClr val="E2E6F5"/>
            </a:solidFill>
            <a:prstDash val="solid"/>
          </a:ln>
        </p:spPr>
      </p:sp>
      <p:sp>
        <p:nvSpPr>
          <p:cNvPr id="250275711" name="Shape 11"/>
          <p:cNvSpPr/>
          <p:nvPr/>
        </p:nvSpPr>
        <p:spPr bwMode="auto">
          <a:xfrm>
            <a:off x="960120" y="46634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795141566" name="Text 12"/>
          <p:cNvSpPr txBox="1"/>
          <p:nvPr/>
        </p:nvSpPr>
        <p:spPr bwMode="auto">
          <a:xfrm>
            <a:off x="9601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2000"/>
          </a:p>
        </p:txBody>
      </p:sp>
      <p:sp>
        <p:nvSpPr>
          <p:cNvPr id="247855611" name="Text 13"/>
          <p:cNvSpPr txBox="1"/>
          <p:nvPr/>
        </p:nvSpPr>
        <p:spPr bwMode="auto">
          <a:xfrm>
            <a:off x="1645920" y="4709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Circular Wait</a:t>
            </a:r>
            <a:endParaRPr lang="en-US" sz="1800"/>
          </a:p>
        </p:txBody>
      </p:sp>
      <p:sp>
        <p:nvSpPr>
          <p:cNvPr id="517706778" name="Text 14"/>
          <p:cNvSpPr txBox="1"/>
          <p:nvPr/>
        </p:nvSpPr>
        <p:spPr bwMode="auto">
          <a:xfrm>
            <a:off x="960120" y="5394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The fix: give every item a fixed number, and only allow people to ask for items in that order — going up, never down.</a:t>
            </a:r>
            <a:endParaRPr lang="en-US" sz="1250"/>
          </a:p>
        </p:txBody>
      </p:sp>
      <p:sp>
        <p:nvSpPr>
          <p:cNvPr id="166284354" name="Shape 15"/>
          <p:cNvSpPr/>
          <p:nvPr/>
        </p:nvSpPr>
        <p:spPr bwMode="auto">
          <a:xfrm>
            <a:off x="640080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7EC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33972774" name="Text 16"/>
          <p:cNvSpPr txBox="1"/>
          <p:nvPr/>
        </p:nvSpPr>
        <p:spPr bwMode="auto">
          <a:xfrm>
            <a:off x="672084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Give every item a number</a:t>
            </a:r>
            <a:endParaRPr lang="en-US" sz="1400"/>
          </a:p>
        </p:txBody>
      </p:sp>
      <p:sp>
        <p:nvSpPr>
          <p:cNvPr id="638665414" name="Shape 17"/>
          <p:cNvSpPr/>
          <p:nvPr/>
        </p:nvSpPr>
        <p:spPr bwMode="auto">
          <a:xfrm>
            <a:off x="6720840" y="2286000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70529354" name="Shape 18"/>
          <p:cNvSpPr/>
          <p:nvPr/>
        </p:nvSpPr>
        <p:spPr bwMode="auto">
          <a:xfrm>
            <a:off x="6903720" y="2404872"/>
            <a:ext cx="365760" cy="36576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315192383" name="Text 19"/>
          <p:cNvSpPr txBox="1"/>
          <p:nvPr/>
        </p:nvSpPr>
        <p:spPr bwMode="auto">
          <a:xfrm>
            <a:off x="690372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300"/>
          </a:p>
        </p:txBody>
      </p:sp>
      <p:sp>
        <p:nvSpPr>
          <p:cNvPr id="177010235" name="Text 20"/>
          <p:cNvSpPr txBox="1"/>
          <p:nvPr/>
        </p:nvSpPr>
        <p:spPr bwMode="auto">
          <a:xfrm>
            <a:off x="7452360" y="22860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Pen | Tape driver</a:t>
            </a:r>
            <a:endParaRPr lang="en-US" sz="1300"/>
          </a:p>
        </p:txBody>
      </p:sp>
      <p:sp>
        <p:nvSpPr>
          <p:cNvPr id="1082763517" name="Shape 21"/>
          <p:cNvSpPr/>
          <p:nvPr/>
        </p:nvSpPr>
        <p:spPr bwMode="auto">
          <a:xfrm>
            <a:off x="7086600" y="2880360"/>
            <a:ext cx="0" cy="13716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32028211" name="Shape 22"/>
          <p:cNvSpPr/>
          <p:nvPr/>
        </p:nvSpPr>
        <p:spPr bwMode="auto">
          <a:xfrm>
            <a:off x="6720840" y="3017519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4036096" name="Shape 23"/>
          <p:cNvSpPr/>
          <p:nvPr/>
        </p:nvSpPr>
        <p:spPr bwMode="auto">
          <a:xfrm>
            <a:off x="6903720" y="3136392"/>
            <a:ext cx="365760" cy="36576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888805083" name="Text 24"/>
          <p:cNvSpPr txBox="1"/>
          <p:nvPr/>
        </p:nvSpPr>
        <p:spPr bwMode="auto">
          <a:xfrm>
            <a:off x="6903720" y="3136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300"/>
          </a:p>
        </p:txBody>
      </p:sp>
      <p:sp>
        <p:nvSpPr>
          <p:cNvPr id="358572742" name="Text 25"/>
          <p:cNvSpPr txBox="1"/>
          <p:nvPr/>
        </p:nvSpPr>
        <p:spPr bwMode="auto">
          <a:xfrm>
            <a:off x="7452360" y="3017519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Notebook | Disk</a:t>
            </a:r>
            <a:endParaRPr lang="en-US" sz="1300"/>
          </a:p>
        </p:txBody>
      </p:sp>
      <p:sp>
        <p:nvSpPr>
          <p:cNvPr id="1462824395" name="Shape 26"/>
          <p:cNvSpPr/>
          <p:nvPr/>
        </p:nvSpPr>
        <p:spPr bwMode="auto">
          <a:xfrm>
            <a:off x="7086600" y="3611880"/>
            <a:ext cx="0" cy="13716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18459800" name="Shape 27"/>
          <p:cNvSpPr/>
          <p:nvPr/>
        </p:nvSpPr>
        <p:spPr bwMode="auto">
          <a:xfrm>
            <a:off x="6720840" y="3749040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89812080" name="Shape 28"/>
          <p:cNvSpPr/>
          <p:nvPr/>
        </p:nvSpPr>
        <p:spPr bwMode="auto">
          <a:xfrm>
            <a:off x="6903720" y="3867911"/>
            <a:ext cx="365760" cy="36576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526415997" name="Text 29"/>
          <p:cNvSpPr txBox="1"/>
          <p:nvPr/>
        </p:nvSpPr>
        <p:spPr bwMode="auto">
          <a:xfrm>
            <a:off x="6903720" y="38679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300"/>
          </a:p>
        </p:txBody>
      </p:sp>
      <p:sp>
        <p:nvSpPr>
          <p:cNvPr id="1515989857" name="Text 30"/>
          <p:cNvSpPr txBox="1"/>
          <p:nvPr/>
        </p:nvSpPr>
        <p:spPr bwMode="auto">
          <a:xfrm>
            <a:off x="7452360" y="37490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Eraser | Printer</a:t>
            </a:r>
            <a:endParaRPr lang="en-US" sz="1300"/>
          </a:p>
        </p:txBody>
      </p:sp>
      <p:sp>
        <p:nvSpPr>
          <p:cNvPr id="2002623122" name="Shape 31"/>
          <p:cNvSpPr/>
          <p:nvPr/>
        </p:nvSpPr>
        <p:spPr bwMode="auto">
          <a:xfrm>
            <a:off x="7086600" y="4343400"/>
            <a:ext cx="0" cy="13716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98105613" name="Shape 32"/>
          <p:cNvSpPr/>
          <p:nvPr/>
        </p:nvSpPr>
        <p:spPr bwMode="auto">
          <a:xfrm>
            <a:off x="6720840" y="4480560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57645163" name="Shape 33"/>
          <p:cNvSpPr/>
          <p:nvPr/>
        </p:nvSpPr>
        <p:spPr bwMode="auto">
          <a:xfrm>
            <a:off x="6903720" y="4599432"/>
            <a:ext cx="365760" cy="36576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298204190" name="Text 34"/>
          <p:cNvSpPr txBox="1"/>
          <p:nvPr/>
        </p:nvSpPr>
        <p:spPr bwMode="auto">
          <a:xfrm>
            <a:off x="6903720" y="4599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300"/>
          </a:p>
        </p:txBody>
      </p:sp>
      <p:sp>
        <p:nvSpPr>
          <p:cNvPr id="719193254" name="Text 35"/>
          <p:cNvSpPr txBox="1"/>
          <p:nvPr/>
        </p:nvSpPr>
        <p:spPr bwMode="auto">
          <a:xfrm>
            <a:off x="7452360" y="44805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Ruler | Memory</a:t>
            </a:r>
            <a:endParaRPr lang="en-US" sz="1300"/>
          </a:p>
        </p:txBody>
      </p:sp>
      <p:sp>
        <p:nvSpPr>
          <p:cNvPr id="1303655782" name="Text 36"/>
          <p:cNvSpPr txBox="1"/>
          <p:nvPr/>
        </p:nvSpPr>
        <p:spPr bwMode="auto">
          <a:xfrm>
            <a:off x="6720840" y="53492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If you're holding the Notebook (2), you may ask for the Eraser (3) — but never the Pen (1). So no loop can ever form!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7F8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362092" name="Text 0"/>
          <p:cNvSpPr txBox="1"/>
          <p:nvPr/>
        </p:nvSpPr>
        <p:spPr bwMode="auto"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Comparing the Three Approaches</a:t>
            </a:r>
            <a:endParaRPr lang="en-US" sz="3200"/>
          </a:p>
        </p:txBody>
      </p:sp>
      <p:sp>
        <p:nvSpPr>
          <p:cNvPr id="810149834" name="Text 1"/>
          <p:cNvSpPr txBox="1"/>
          <p:nvPr/>
        </p:nvSpPr>
        <p:spPr bwMode="auto">
          <a:xfrm>
            <a:off x="640080" y="1097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Quick side-by-side: how safe each approach is, and how much it costs the system.</a:t>
            </a:r>
            <a:endParaRPr lang="en-US" sz="1400"/>
          </a:p>
        </p:txBody>
      </p:sp>
      <p:sp>
        <p:nvSpPr>
          <p:cNvPr id="238291044" name="Shape 2"/>
          <p:cNvSpPr/>
          <p:nvPr/>
        </p:nvSpPr>
        <p:spPr bwMode="auto">
          <a:xfrm>
            <a:off x="640080" y="1783080"/>
            <a:ext cx="2651760" cy="566928"/>
          </a:xfrm>
          <a:prstGeom prst="rect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9081848" name="Text 3"/>
          <p:cNvSpPr txBox="1"/>
          <p:nvPr/>
        </p:nvSpPr>
        <p:spPr bwMode="auto">
          <a:xfrm>
            <a:off x="640080" y="1783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Approach</a:t>
            </a:r>
            <a:endParaRPr lang="en-US" sz="1250"/>
          </a:p>
        </p:txBody>
      </p:sp>
      <p:sp>
        <p:nvSpPr>
          <p:cNvPr id="288151961" name="Shape 4"/>
          <p:cNvSpPr/>
          <p:nvPr/>
        </p:nvSpPr>
        <p:spPr bwMode="auto">
          <a:xfrm>
            <a:off x="3291840" y="1783080"/>
            <a:ext cx="2651760" cy="566928"/>
          </a:xfrm>
          <a:prstGeom prst="rect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2138509" name="Text 5"/>
          <p:cNvSpPr txBox="1"/>
          <p:nvPr/>
        </p:nvSpPr>
        <p:spPr bwMode="auto">
          <a:xfrm>
            <a:off x="3291840" y="1783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 Deadlock Possible?</a:t>
            </a:r>
            <a:endParaRPr lang="en-US" sz="1250"/>
          </a:p>
        </p:txBody>
      </p:sp>
      <p:sp>
        <p:nvSpPr>
          <p:cNvPr id="1565561625" name="Shape 6"/>
          <p:cNvSpPr/>
          <p:nvPr/>
        </p:nvSpPr>
        <p:spPr bwMode="auto">
          <a:xfrm>
            <a:off x="5943600" y="1783080"/>
            <a:ext cx="2834640" cy="566928"/>
          </a:xfrm>
          <a:prstGeom prst="rect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69114876" name="Text 7"/>
          <p:cNvSpPr txBox="1"/>
          <p:nvPr/>
        </p:nvSpPr>
        <p:spPr bwMode="auto">
          <a:xfrm>
            <a:off x="5943600" y="17830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How Well Resources Are Used</a:t>
            </a:r>
            <a:endParaRPr lang="en-US" sz="1250"/>
          </a:p>
        </p:txBody>
      </p:sp>
      <p:sp>
        <p:nvSpPr>
          <p:cNvPr id="1445570174" name="Shape 8"/>
          <p:cNvSpPr/>
          <p:nvPr/>
        </p:nvSpPr>
        <p:spPr bwMode="auto">
          <a:xfrm>
            <a:off x="8778240" y="1783080"/>
            <a:ext cx="2743200" cy="566928"/>
          </a:xfrm>
          <a:prstGeom prst="rect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8103424" name="Text 9"/>
          <p:cNvSpPr txBox="1"/>
          <p:nvPr/>
        </p:nvSpPr>
        <p:spPr bwMode="auto">
          <a:xfrm>
            <a:off x="877824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Extra Work For the System</a:t>
            </a:r>
            <a:endParaRPr lang="en-US" sz="1250"/>
          </a:p>
        </p:txBody>
      </p:sp>
      <p:sp>
        <p:nvSpPr>
          <p:cNvPr id="72612021" name="Shape 10"/>
          <p:cNvSpPr/>
          <p:nvPr/>
        </p:nvSpPr>
        <p:spPr bwMode="auto">
          <a:xfrm>
            <a:off x="640080" y="235000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654416976" name="Text 11"/>
          <p:cNvSpPr txBox="1"/>
          <p:nvPr/>
        </p:nvSpPr>
        <p:spPr bwMode="auto">
          <a:xfrm>
            <a:off x="640080" y="23500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Prevention</a:t>
            </a:r>
            <a:endParaRPr lang="en-US" sz="1200"/>
          </a:p>
        </p:txBody>
      </p:sp>
      <p:sp>
        <p:nvSpPr>
          <p:cNvPr id="60426492" name="Shape 12"/>
          <p:cNvSpPr/>
          <p:nvPr/>
        </p:nvSpPr>
        <p:spPr bwMode="auto">
          <a:xfrm>
            <a:off x="3291840" y="235000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882390066" name="Text 13"/>
          <p:cNvSpPr txBox="1"/>
          <p:nvPr/>
        </p:nvSpPr>
        <p:spPr bwMode="auto">
          <a:xfrm>
            <a:off x="3291840" y="23500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Never — it's impossible</a:t>
            </a:r>
            <a:endParaRPr lang="en-US" sz="1200"/>
          </a:p>
        </p:txBody>
      </p:sp>
      <p:sp>
        <p:nvSpPr>
          <p:cNvPr id="1280165152" name="Shape 14"/>
          <p:cNvSpPr/>
          <p:nvPr/>
        </p:nvSpPr>
        <p:spPr bwMode="auto">
          <a:xfrm>
            <a:off x="5943600" y="2350008"/>
            <a:ext cx="2834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815758000" name="Text 15"/>
          <p:cNvSpPr txBox="1"/>
          <p:nvPr/>
        </p:nvSpPr>
        <p:spPr bwMode="auto">
          <a:xfrm>
            <a:off x="5943600" y="2350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Low — plays it too safe</a:t>
            </a:r>
            <a:endParaRPr lang="en-US" sz="1200"/>
          </a:p>
        </p:txBody>
      </p:sp>
      <p:sp>
        <p:nvSpPr>
          <p:cNvPr id="627474326" name="Shape 16"/>
          <p:cNvSpPr/>
          <p:nvPr/>
        </p:nvSpPr>
        <p:spPr bwMode="auto">
          <a:xfrm>
            <a:off x="8778240" y="2350008"/>
            <a:ext cx="2743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721879410" name="Text 17"/>
          <p:cNvSpPr txBox="1"/>
          <p:nvPr/>
        </p:nvSpPr>
        <p:spPr bwMode="auto">
          <a:xfrm>
            <a:off x="8778240" y="23500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Low — rules are set in advance</a:t>
            </a:r>
            <a:endParaRPr lang="en-US" sz="1200"/>
          </a:p>
        </p:txBody>
      </p:sp>
      <p:sp>
        <p:nvSpPr>
          <p:cNvPr id="1844549019" name="Shape 18"/>
          <p:cNvSpPr/>
          <p:nvPr/>
        </p:nvSpPr>
        <p:spPr bwMode="auto">
          <a:xfrm>
            <a:off x="640080" y="2916936"/>
            <a:ext cx="2651760" cy="566928"/>
          </a:xfrm>
          <a:prstGeom prst="rect">
            <a:avLst/>
          </a:prstGeom>
          <a:solidFill>
            <a:srgbClr val="EEF1FA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2033395208" name="Text 19"/>
          <p:cNvSpPr txBox="1"/>
          <p:nvPr/>
        </p:nvSpPr>
        <p:spPr bwMode="auto">
          <a:xfrm>
            <a:off x="640080" y="2916936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Avoidance</a:t>
            </a:r>
            <a:endParaRPr lang="en-US" sz="1200"/>
          </a:p>
        </p:txBody>
      </p:sp>
      <p:sp>
        <p:nvSpPr>
          <p:cNvPr id="1373929388" name="Shape 20"/>
          <p:cNvSpPr/>
          <p:nvPr/>
        </p:nvSpPr>
        <p:spPr bwMode="auto">
          <a:xfrm>
            <a:off x="3291840" y="2916936"/>
            <a:ext cx="2651760" cy="566928"/>
          </a:xfrm>
          <a:prstGeom prst="rect">
            <a:avLst/>
          </a:prstGeom>
          <a:solidFill>
            <a:srgbClr val="EEF1FA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318036379" name="Text 21"/>
          <p:cNvSpPr txBox="1"/>
          <p:nvPr/>
        </p:nvSpPr>
        <p:spPr bwMode="auto">
          <a:xfrm>
            <a:off x="3291840" y="2916936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Never — it's impossible</a:t>
            </a:r>
            <a:endParaRPr lang="en-US" sz="1200"/>
          </a:p>
        </p:txBody>
      </p:sp>
      <p:sp>
        <p:nvSpPr>
          <p:cNvPr id="1226716718" name="Shape 22"/>
          <p:cNvSpPr/>
          <p:nvPr/>
        </p:nvSpPr>
        <p:spPr bwMode="auto">
          <a:xfrm>
            <a:off x="5943600" y="2916936"/>
            <a:ext cx="2834640" cy="566928"/>
          </a:xfrm>
          <a:prstGeom prst="rect">
            <a:avLst/>
          </a:prstGeom>
          <a:solidFill>
            <a:srgbClr val="EEF1FA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626737790" name="Text 23"/>
          <p:cNvSpPr txBox="1"/>
          <p:nvPr/>
        </p:nvSpPr>
        <p:spPr bwMode="auto">
          <a:xfrm>
            <a:off x="5943600" y="2916936"/>
            <a:ext cx="28346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Better — more flexible</a:t>
            </a:r>
            <a:endParaRPr lang="en-US" sz="1200"/>
          </a:p>
        </p:txBody>
      </p:sp>
      <p:sp>
        <p:nvSpPr>
          <p:cNvPr id="287914272" name="Shape 24"/>
          <p:cNvSpPr/>
          <p:nvPr/>
        </p:nvSpPr>
        <p:spPr bwMode="auto">
          <a:xfrm>
            <a:off x="8778240" y="2916936"/>
            <a:ext cx="2743200" cy="566928"/>
          </a:xfrm>
          <a:prstGeom prst="rect">
            <a:avLst/>
          </a:prstGeom>
          <a:solidFill>
            <a:srgbClr val="EEF1FA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254192177" name="Text 25"/>
          <p:cNvSpPr txBox="1"/>
          <p:nvPr/>
        </p:nvSpPr>
        <p:spPr bwMode="auto">
          <a:xfrm>
            <a:off x="8778240" y="29169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Some — checks every request</a:t>
            </a:r>
            <a:endParaRPr lang="en-US" sz="1200"/>
          </a:p>
        </p:txBody>
      </p:sp>
      <p:sp>
        <p:nvSpPr>
          <p:cNvPr id="882580328" name="Shape 26"/>
          <p:cNvSpPr/>
          <p:nvPr/>
        </p:nvSpPr>
        <p:spPr bwMode="auto">
          <a:xfrm>
            <a:off x="640080" y="34838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319657955" name="Text 27"/>
          <p:cNvSpPr txBox="1"/>
          <p:nvPr/>
        </p:nvSpPr>
        <p:spPr bwMode="auto">
          <a:xfrm>
            <a:off x="640080" y="34838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Detection &amp; Recovery</a:t>
            </a:r>
            <a:endParaRPr lang="en-US" sz="1200"/>
          </a:p>
        </p:txBody>
      </p:sp>
      <p:sp>
        <p:nvSpPr>
          <p:cNvPr id="1485578303" name="Shape 28"/>
          <p:cNvSpPr/>
          <p:nvPr/>
        </p:nvSpPr>
        <p:spPr bwMode="auto">
          <a:xfrm>
            <a:off x="3291840" y="34838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194178722" name="Text 29"/>
          <p:cNvSpPr txBox="1"/>
          <p:nvPr/>
        </p:nvSpPr>
        <p:spPr bwMode="auto">
          <a:xfrm>
            <a:off x="3291840" y="34838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Yes, but it's fixed after</a:t>
            </a:r>
            <a:endParaRPr lang="en-US" sz="1200"/>
          </a:p>
        </p:txBody>
      </p:sp>
      <p:sp>
        <p:nvSpPr>
          <p:cNvPr id="978540791" name="Shape 30"/>
          <p:cNvSpPr/>
          <p:nvPr/>
        </p:nvSpPr>
        <p:spPr bwMode="auto">
          <a:xfrm>
            <a:off x="5943600" y="3483864"/>
            <a:ext cx="2834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028201985" name="Text 31"/>
          <p:cNvSpPr txBox="1"/>
          <p:nvPr/>
        </p:nvSpPr>
        <p:spPr bwMode="auto">
          <a:xfrm>
            <a:off x="5943600" y="3483864"/>
            <a:ext cx="28346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Best — no restrictions at all</a:t>
            </a:r>
            <a:endParaRPr lang="en-US" sz="1200"/>
          </a:p>
        </p:txBody>
      </p:sp>
      <p:sp>
        <p:nvSpPr>
          <p:cNvPr id="1602242549" name="Shape 32"/>
          <p:cNvSpPr/>
          <p:nvPr/>
        </p:nvSpPr>
        <p:spPr bwMode="auto">
          <a:xfrm>
            <a:off x="8778240" y="3483864"/>
            <a:ext cx="2743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010129763" name="Text 33"/>
          <p:cNvSpPr txBox="1"/>
          <p:nvPr/>
        </p:nvSpPr>
        <p:spPr bwMode="auto">
          <a:xfrm>
            <a:off x="8778240" y="34838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Only when fixing a deadlock</a:t>
            </a:r>
            <a:endParaRPr lang="en-US" sz="1200"/>
          </a:p>
        </p:txBody>
      </p:sp>
      <p:sp>
        <p:nvSpPr>
          <p:cNvPr id="355136057" name="Text 34"/>
          <p:cNvSpPr txBox="1"/>
          <p:nvPr/>
        </p:nvSpPr>
        <p:spPr bwMode="auto">
          <a:xfrm>
            <a:off x="640080" y="43708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In short: Prevention is the safest but most careful choice — it never lets a deadlock happen, even if that means being a little wasteful.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:blinds dir="horz"/>
      </p:transition>
    </mc:Choice>
    <mc:Fallback>
      <p:transition spd="slow" advClick="1">
        <p:blinds dir="horz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8411483" name="Shape 0"/>
          <p:cNvSpPr/>
          <p:nvPr/>
        </p:nvSpPr>
        <p:spPr bwMode="auto">
          <a:xfrm>
            <a:off x="-1463040" y="-1645920"/>
            <a:ext cx="4114800" cy="4114800"/>
          </a:xfrm>
          <a:prstGeom prst="ellipse">
            <a:avLst/>
          </a:prstGeom>
          <a:solidFill>
            <a:srgbClr val="26317A"/>
          </a:solidFill>
          <a:ln/>
        </p:spPr>
      </p:sp>
      <p:sp>
        <p:nvSpPr>
          <p:cNvPr id="275270462" name="Text 1"/>
          <p:cNvSpPr txBox="1"/>
          <p:nvPr/>
        </p:nvSpPr>
        <p:spPr bwMode="auto">
          <a:xfrm>
            <a:off x="822960" y="640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Key Takeaways</a:t>
            </a:r>
            <a:endParaRPr lang="en-US" sz="3400"/>
          </a:p>
        </p:txBody>
      </p:sp>
      <p:sp>
        <p:nvSpPr>
          <p:cNvPr id="801064478" name="Shape 2"/>
          <p:cNvSpPr/>
          <p:nvPr/>
        </p:nvSpPr>
        <p:spPr bwMode="auto">
          <a:xfrm>
            <a:off x="868680" y="1417320"/>
            <a:ext cx="1280160" cy="0"/>
          </a:xfrm>
          <a:prstGeom prst="line">
            <a:avLst/>
          </a:prstGeom>
          <a:noFill/>
          <a:ln w="38100">
            <a:solidFill>
              <a:srgbClr val="E8543E"/>
            </a:solidFill>
            <a:prstDash val="solid"/>
          </a:ln>
        </p:spPr>
      </p:sp>
      <p:sp>
        <p:nvSpPr>
          <p:cNvPr id="1867555107" name="Shape 3"/>
          <p:cNvSpPr/>
          <p:nvPr/>
        </p:nvSpPr>
        <p:spPr bwMode="auto">
          <a:xfrm>
            <a:off x="822960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543E"/>
          </a:solidFill>
          <a:ln/>
        </p:spPr>
      </p:sp>
      <p:sp>
        <p:nvSpPr>
          <p:cNvPr id="779948502" name="Text 4"/>
          <p:cNvSpPr txBox="1"/>
          <p:nvPr/>
        </p:nvSpPr>
        <p:spPr bwMode="auto"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600"/>
          </a:p>
        </p:txBody>
      </p:sp>
      <p:sp>
        <p:nvSpPr>
          <p:cNvPr id="860267027" name="Text 5"/>
          <p:cNvSpPr txBox="1"/>
          <p:nvPr/>
        </p:nvSpPr>
        <p:spPr bwMode="auto">
          <a:xfrm>
            <a:off x="1463040" y="18288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Deadlock = everyone waiting on someone else, forever. Think Hari and Thameem stuck with the Pen and Ruler.</a:t>
            </a:r>
            <a:endParaRPr lang="en-US" sz="1450"/>
          </a:p>
        </p:txBody>
      </p:sp>
      <p:sp>
        <p:nvSpPr>
          <p:cNvPr id="1673772300" name="Shape 6"/>
          <p:cNvSpPr/>
          <p:nvPr/>
        </p:nvSpPr>
        <p:spPr bwMode="auto">
          <a:xfrm>
            <a:off x="822960" y="2926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543E"/>
          </a:solidFill>
          <a:ln/>
        </p:spPr>
      </p:sp>
      <p:sp>
        <p:nvSpPr>
          <p:cNvPr id="1476415970" name="Text 7"/>
          <p:cNvSpPr txBox="1"/>
          <p:nvPr/>
        </p:nvSpPr>
        <p:spPr bwMode="auto">
          <a:xfrm>
            <a:off x="82296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600"/>
          </a:p>
        </p:txBody>
      </p:sp>
      <p:sp>
        <p:nvSpPr>
          <p:cNvPr id="1996619467" name="Text 8"/>
          <p:cNvSpPr txBox="1"/>
          <p:nvPr/>
        </p:nvSpPr>
        <p:spPr bwMode="auto">
          <a:xfrm>
            <a:off x="1463040" y="288036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It only happens when all 4 conditions are true together: mutual exclusion, hold-and-wait, no preemption, and circular wait.</a:t>
            </a:r>
            <a:endParaRPr lang="en-US" sz="1450"/>
          </a:p>
        </p:txBody>
      </p:sp>
      <p:sp>
        <p:nvSpPr>
          <p:cNvPr id="98524956" name="Shape 9"/>
          <p:cNvSpPr/>
          <p:nvPr/>
        </p:nvSpPr>
        <p:spPr bwMode="auto">
          <a:xfrm>
            <a:off x="822960" y="3977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543E"/>
          </a:solidFill>
          <a:ln/>
        </p:spPr>
      </p:sp>
      <p:sp>
        <p:nvSpPr>
          <p:cNvPr id="234424679" name="Text 10"/>
          <p:cNvSpPr txBox="1"/>
          <p:nvPr/>
        </p:nvSpPr>
        <p:spPr bwMode="auto"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600"/>
          </a:p>
        </p:txBody>
      </p:sp>
      <p:sp>
        <p:nvSpPr>
          <p:cNvPr id="717836799" name="Text 11"/>
          <p:cNvSpPr txBox="1"/>
          <p:nvPr/>
        </p:nvSpPr>
        <p:spPr bwMode="auto">
          <a:xfrm>
            <a:off x="1463040" y="39319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Prevention works by breaking just ONE condition — then deadlock simply can't happen.</a:t>
            </a:r>
            <a:endParaRPr lang="en-US" sz="1450"/>
          </a:p>
        </p:txBody>
      </p:sp>
      <p:sp>
        <p:nvSpPr>
          <p:cNvPr id="175157656" name="Shape 12"/>
          <p:cNvSpPr/>
          <p:nvPr/>
        </p:nvSpPr>
        <p:spPr bwMode="auto">
          <a:xfrm>
            <a:off x="822960" y="50292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543E"/>
          </a:solidFill>
          <a:ln/>
        </p:spPr>
      </p:sp>
      <p:sp>
        <p:nvSpPr>
          <p:cNvPr id="1275268592" name="Text 13"/>
          <p:cNvSpPr txBox="1"/>
          <p:nvPr/>
        </p:nvSpPr>
        <p:spPr bwMode="auto">
          <a:xfrm>
            <a:off x="82296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600"/>
          </a:p>
        </p:txBody>
      </p:sp>
      <p:sp>
        <p:nvSpPr>
          <p:cNvPr id="1838836646" name="Text 14"/>
          <p:cNvSpPr txBox="1"/>
          <p:nvPr/>
        </p:nvSpPr>
        <p:spPr bwMode="auto">
          <a:xfrm>
            <a:off x="1463040" y="498348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The easiest fix in real systems? Give every resource a number and request them in order — that kills circular wait.</a:t>
            </a:r>
            <a:endParaRPr lang="en-US" sz="1450"/>
          </a:p>
        </p:txBody>
      </p:sp>
      <p:sp>
        <p:nvSpPr>
          <p:cNvPr id="1366917794" name="Text 15"/>
          <p:cNvSpPr txBox="1"/>
          <p:nvPr/>
        </p:nvSpPr>
        <p:spPr bwMode="auto">
          <a:xfrm>
            <a:off x="822960" y="6263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i="1">
                <a:solidFill>
                  <a:srgbClr val="AEB9E8"/>
                </a:solidFill>
                <a:latin typeface="Cambria"/>
                <a:ea typeface="Cambria"/>
                <a:cs typeface="Cambria"/>
              </a:rPr>
              <a:t>Thank you</a:t>
            </a:r>
            <a:endParaRPr lang="en-US"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:wipe dir="r"/>
      </p:transition>
    </mc:Choice>
    <mc:Fallback>
      <p:transition spd="slow" advClick="1">
        <p:wipe dir="r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4260284" name="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 rotWithShape="1">
          <a:blip r:embed="rId3"/>
          <a:stretch/>
        </p:blipFill>
        <p:spPr bwMode="auto">
          <a:xfrm flipH="0" flipV="0">
            <a:off x="1392" y="300749"/>
            <a:ext cx="12817928" cy="6232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2</cp:revision>
  <dcterms:created xsi:type="dcterms:W3CDTF">2026-09-20T08:07:59Z</dcterms:created>
  <dcterms:modified xsi:type="dcterms:W3CDTF">2026-09-20T09:10:15Z</dcterms:modified>
</cp:coreProperties>
</file>